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7" r:id="rId3"/>
    <p:sldId id="292" r:id="rId4"/>
    <p:sldId id="293" r:id="rId5"/>
    <p:sldId id="294" r:id="rId6"/>
    <p:sldId id="295" r:id="rId7"/>
    <p:sldId id="296" r:id="rId8"/>
    <p:sldId id="297" r:id="rId9"/>
    <p:sldId id="289" r:id="rId10"/>
    <p:sldId id="298" r:id="rId11"/>
    <p:sldId id="299" r:id="rId12"/>
    <p:sldId id="291" r:id="rId13"/>
    <p:sldId id="300" r:id="rId14"/>
    <p:sldId id="30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B5484-DA7E-E504-D7B7-53CF2CE4C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ED1BEF8-F4A3-4ACE-0A3C-05CF3BAB3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E0315E-6ED6-461D-38E1-62862998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F1A728-D876-98D0-FDBD-D03CC5CB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366CDB-9F54-008B-AD7A-2416AAB0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64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26633-6D89-5723-CDC7-066E45DB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D38344-31B7-B2C3-72E5-FDF5E8AE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3B4CB6-8576-A173-B013-F77A884E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1FDE51-6E40-23CF-BA8A-BA38E688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9E2966-B57B-60D1-1FE0-2D14C118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012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906BA-F4FB-7C85-A628-725A08B3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862702-6326-0E62-13C8-46F11F2BF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22BB9-2EA7-0E55-1679-49DB3984A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313847-5F98-D7DD-B8B8-F49C1A0E7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2DEC64-761A-21FF-A3CE-42426C9D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40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11CC25-FDD4-D00E-AA5F-E02F3621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D5CF4F-BB02-85FC-66AD-C821FDF97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9289C8-F724-2176-DAB9-297E1ED70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21A017-011D-8B37-C9CF-CE53CCDB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77F0BA-7D55-861D-7910-4C9105D2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0B5B5F-157E-853A-EF49-C7F0B88C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69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62148-5A3A-FE6D-43B1-1021963E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47AAAE-DE90-0463-E7ED-8D628596F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325D75-E1E4-25DF-D56C-4A10042E1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7ED2B8A-33BC-B825-6DC5-5119C7C89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FAB631-D314-45BF-DD67-F78D898A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9074F59-AE73-B789-1A0D-F32BBDAD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8BCC0A-5A70-9E9B-9DEE-C52E5D46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9833144-5E13-D9B0-98BC-4D4F5BBF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81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ED3F4C-9FFB-3C07-D129-A7883F08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FCABCA-886C-2080-20D8-04D1C287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A8C24-8594-C301-736F-3B074468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70F857-55BA-6C30-BE42-483A78C6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161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3CFA05E-FB99-D535-EF57-073DD212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4C01E5-C567-FDF1-C340-22AA9221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C1A456-D167-021F-9ED4-80A9E4CD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90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3AD34-51F2-6630-9724-1892ED4A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46A748-EBAC-8E73-2772-D35054B01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A4F18A-3E9B-6245-8934-8AAA64BFD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70303CA-454B-E367-264B-83CB7808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4471DC-5474-0B06-3009-C75C382D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9E8F7E-9987-1AAE-35CF-6E78AF0A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776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2984B-F625-DE18-715F-B5EE41D6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6C152E-5F81-126A-7E61-A2A0D24E0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452C5F-A756-4BD0-E01F-3AA8A791C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E501CA-4635-E818-F3E1-41E60A23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DE34F5-776A-8149-BA70-CA3403C8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F86C95-9CC9-3739-4E38-8784EF4C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08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4451C-CC75-5F48-8144-0E859245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51515F-7175-2B15-5E1D-85244AE63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4D90D5-0C09-CAD6-FA4E-80D7A2342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00973B-5557-5DDB-FF6E-1EE7DDF5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DD2ADE-B53A-E4F8-81E1-BC8F204C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528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333AA1E-F750-9565-AFA6-A68EA93A0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7DAF42-0640-9F85-11EF-F4680CE00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BA9BB1-7810-5C59-1610-8F7329D7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B64633-41A2-7D5B-1630-E04B0E1F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72527F-29DF-B100-AAB4-678857E0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34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120A087-9D17-FDDB-2ED9-030A0223A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B9DB98-8E1E-A770-BEB4-876CE70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C8F2C6-CCA2-BA93-4EC3-C928215BE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3A2D9-5B75-41B9-B0CA-7AC18304C283}" type="datetimeFigureOut">
              <a:rPr lang="de-DE" smtClean="0"/>
              <a:t>02.01.2025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90F8DA-0884-DC88-1B0E-FF0B06830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BFA29D-AF21-32D1-2315-B4FD2C31E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8AE87-2E38-4F9A-BD81-B87FFB0CAC0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31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2C7E7-E257-4EBC-9658-D49A5CC2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dirty="0">
                <a:solidFill>
                  <a:schemeClr val="tx2"/>
                </a:solidFill>
              </a:rPr>
              <a:t>Statische Programmanalyse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3BDAA2-ECB1-47E0-B3BE-F955A58A2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Architecture Validation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166F447-08C2-575D-4845-A391A32A58A6}"/>
              </a:ext>
            </a:extLst>
          </p:cNvPr>
          <p:cNvSpPr txBox="1"/>
          <p:nvPr/>
        </p:nvSpPr>
        <p:spPr>
          <a:xfrm>
            <a:off x="8534400" y="4886960"/>
            <a:ext cx="2956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Calibri"/>
              </a:rPr>
              <a:t>Gruppe 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1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F3AAA5-0EE5-2C4B-4081-11DC2889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32"/>
            <a:ext cx="10515600" cy="572963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6.1 Analyseaufgabe</a:t>
            </a:r>
          </a:p>
        </p:txBody>
      </p:sp>
    </p:spTree>
    <p:extLst>
      <p:ext uri="{BB962C8B-B14F-4D97-AF65-F5344CB8AC3E}">
        <p14:creationId xmlns:p14="http://schemas.microsoft.com/office/powerpoint/2010/main" val="200213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8AA49-54E9-0B41-F3F6-9B308491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6.1 Theorie – Grundlegender 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9AEABA-499B-D41A-36D2-63CD6563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Extra Libraries:</a:t>
            </a:r>
          </a:p>
          <a:p>
            <a:pPr lvl="1"/>
            <a:r>
              <a:rPr lang="de-DE" dirty="0" err="1"/>
              <a:t>Scalatest</a:t>
            </a:r>
            <a:r>
              <a:rPr lang="de-DE" dirty="0"/>
              <a:t> 3.2.19</a:t>
            </a:r>
          </a:p>
          <a:p>
            <a:pPr lvl="1"/>
            <a:r>
              <a:rPr lang="de-DE" dirty="0" err="1"/>
              <a:t>Junit</a:t>
            </a:r>
            <a:r>
              <a:rPr lang="de-DE" dirty="0"/>
              <a:t> 5.10.3</a:t>
            </a:r>
          </a:p>
          <a:p>
            <a:pPr lvl="1"/>
            <a:r>
              <a:rPr lang="de-DE" dirty="0"/>
              <a:t>Play-</a:t>
            </a:r>
            <a:r>
              <a:rPr lang="de-DE" dirty="0" err="1"/>
              <a:t>json</a:t>
            </a:r>
            <a:r>
              <a:rPr lang="de-DE" dirty="0"/>
              <a:t> 2.10.5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Input aus CLI laden und verarbeiten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„</a:t>
            </a:r>
            <a:r>
              <a:rPr lang="de-DE" dirty="0" err="1"/>
              <a:t>ProjektManager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Soll grundlegende Dinge über das Projekt speichern (z.B. Projekt)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„</a:t>
            </a:r>
            <a:r>
              <a:rPr lang="de-DE" dirty="0" err="1"/>
              <a:t>CheckAnalysis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Überprüft, ob die ….</a:t>
            </a:r>
            <a:r>
              <a:rPr lang="de-DE" dirty="0" err="1"/>
              <a:t>json</a:t>
            </a:r>
            <a:r>
              <a:rPr lang="de-DE" dirty="0"/>
              <a:t>, weiche Architektur definiert, korrekt ist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Eigentliche „Analysis“</a:t>
            </a:r>
          </a:p>
          <a:p>
            <a:pPr lvl="1"/>
            <a:r>
              <a:rPr lang="de-DE" dirty="0"/>
              <a:t>Tatsächliche Analyse</a:t>
            </a:r>
          </a:p>
          <a:p>
            <a:pPr lvl="1"/>
            <a:r>
              <a:rPr lang="de-DE" dirty="0" err="1"/>
              <a:t>CallGraph</a:t>
            </a:r>
            <a:r>
              <a:rPr lang="de-DE" dirty="0"/>
              <a:t> vs. </a:t>
            </a:r>
            <a:r>
              <a:rPr lang="de-DE" dirty="0" err="1"/>
              <a:t>MethodWithBody</a:t>
            </a:r>
            <a:endParaRPr lang="de-DE" dirty="0"/>
          </a:p>
          <a:p>
            <a:pPr lvl="2"/>
            <a:r>
              <a:rPr lang="de-DE" dirty="0" err="1"/>
              <a:t>CallGraph</a:t>
            </a:r>
            <a:r>
              <a:rPr lang="de-DE" dirty="0"/>
              <a:t> hat nur tatsächlich erreichbare (je nach gewähltem Schlüssel mal genauer)</a:t>
            </a:r>
          </a:p>
          <a:p>
            <a:pPr marL="914400" lvl="2" indent="0">
              <a:buNone/>
            </a:pPr>
            <a:r>
              <a:rPr lang="de-DE" dirty="0"/>
              <a:t>=&gt; </a:t>
            </a:r>
            <a:r>
              <a:rPr lang="de-DE" dirty="0" err="1"/>
              <a:t>MethodsWithBody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430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7868C-4918-AE57-6684-570A5C3E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6.1 Praxis - </a:t>
            </a:r>
            <a:r>
              <a:rPr lang="de-DE" dirty="0" err="1"/>
              <a:t>ProjektManager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E9DEB9-E5DD-301B-A1ED-D27734B1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Erstellt das Projekt</a:t>
            </a:r>
          </a:p>
          <a:p>
            <a:pPr lvl="1"/>
            <a:r>
              <a:rPr lang="de-DE" dirty="0" err="1"/>
              <a:t>SourceCode</a:t>
            </a:r>
            <a:r>
              <a:rPr lang="de-DE" dirty="0"/>
              <a:t> von Haupt-Jar und Libraries</a:t>
            </a:r>
          </a:p>
          <a:p>
            <a:r>
              <a:rPr lang="de-DE" dirty="0" err="1"/>
              <a:t>Map</a:t>
            </a:r>
            <a:r>
              <a:rPr lang="de-DE" dirty="0"/>
              <a:t> für:</a:t>
            </a:r>
          </a:p>
          <a:p>
            <a:pPr lvl="1"/>
            <a:r>
              <a:rPr lang="de-DE" dirty="0"/>
              <a:t>Jar -&gt; Package</a:t>
            </a:r>
          </a:p>
          <a:p>
            <a:pPr lvl="1"/>
            <a:r>
              <a:rPr lang="de-DE" dirty="0"/>
              <a:t>Package -&gt; Classe</a:t>
            </a:r>
          </a:p>
          <a:p>
            <a:pPr lvl="1"/>
            <a:r>
              <a:rPr lang="de-DE" dirty="0"/>
              <a:t>Und:</a:t>
            </a:r>
          </a:p>
          <a:p>
            <a:pPr lvl="2"/>
            <a:r>
              <a:rPr lang="de-DE" dirty="0"/>
              <a:t>Classe -&gt; Package</a:t>
            </a:r>
          </a:p>
          <a:p>
            <a:pPr lvl="2"/>
            <a:r>
              <a:rPr lang="de-DE" dirty="0"/>
              <a:t>Package -&gt; Jar</a:t>
            </a:r>
          </a:p>
          <a:p>
            <a:r>
              <a:rPr lang="de-DE" dirty="0"/>
              <a:t>Enthält weiter Methoden für „Analyse“ und „</a:t>
            </a:r>
            <a:r>
              <a:rPr lang="de-DE" dirty="0" err="1"/>
              <a:t>CheckJSON</a:t>
            </a:r>
            <a:r>
              <a:rPr lang="de-DE" dirty="0"/>
              <a:t>“</a:t>
            </a:r>
          </a:p>
          <a:p>
            <a:pPr lvl="1"/>
            <a:r>
              <a:rPr lang="de-DE" dirty="0" err="1"/>
              <a:t>Validate</a:t>
            </a:r>
            <a:r>
              <a:rPr lang="de-DE" dirty="0"/>
              <a:t>(last, </a:t>
            </a:r>
            <a:r>
              <a:rPr lang="de-DE" dirty="0" err="1"/>
              <a:t>now</a:t>
            </a:r>
            <a:r>
              <a:rPr lang="de-DE" dirty="0"/>
              <a:t>) – genutzt, um zu ermitteln, ob JSON eine korrekte Hierarchie hat =&gt; </a:t>
            </a:r>
            <a:r>
              <a:rPr lang="de-DE" dirty="0" err="1"/>
              <a:t>Bsp</a:t>
            </a:r>
            <a:r>
              <a:rPr lang="de-DE" dirty="0"/>
              <a:t>: Ist das Package ein Teil der Jar</a:t>
            </a:r>
          </a:p>
          <a:p>
            <a:pPr lvl="1"/>
            <a:r>
              <a:rPr lang="de-DE" dirty="0"/>
              <a:t>Mehrere Methoden, um mit gegebene Strings -&gt; passende Packages/ Jars/ Classen zu erhalten</a:t>
            </a:r>
          </a:p>
          <a:p>
            <a:pPr lvl="1"/>
            <a:r>
              <a:rPr lang="de-DE" dirty="0" err="1"/>
              <a:t>isClass</a:t>
            </a:r>
            <a:r>
              <a:rPr lang="de-DE" dirty="0"/>
              <a:t>(</a:t>
            </a:r>
            <a:r>
              <a:rPr lang="de-DE" dirty="0" err="1"/>
              <a:t>field</a:t>
            </a:r>
            <a:r>
              <a:rPr lang="de-DE" dirty="0"/>
              <a:t>) – genutzt, um bei dem validieren von Feldern auch mit Listen arbeiten zu können (momentan nur Liste  von Objekten nicht Liste von Listen und auch keine Maps)</a:t>
            </a:r>
          </a:p>
        </p:txBody>
      </p:sp>
    </p:spTree>
    <p:extLst>
      <p:ext uri="{BB962C8B-B14F-4D97-AF65-F5344CB8AC3E}">
        <p14:creationId xmlns:p14="http://schemas.microsoft.com/office/powerpoint/2010/main" val="2983891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69909-0E8E-A26E-9CFA-4EF1C84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6.1 Praxis - </a:t>
            </a:r>
            <a:r>
              <a:rPr lang="de-DE" dirty="0" err="1"/>
              <a:t>CheckJSON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99ED6E-36DB-5D81-7AB9-DC1484FF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Maps mit allen Regeln – Basic Regel mit (null, null) -&gt; Regel</a:t>
            </a:r>
          </a:p>
          <a:p>
            <a:pPr lvl="1"/>
            <a:r>
              <a:rPr lang="de-DE" dirty="0" err="1"/>
              <a:t>From</a:t>
            </a:r>
            <a:r>
              <a:rPr lang="de-DE" dirty="0"/>
              <a:t>: …, </a:t>
            </a:r>
            <a:r>
              <a:rPr lang="de-DE" dirty="0" err="1"/>
              <a:t>To</a:t>
            </a:r>
            <a:r>
              <a:rPr lang="de-DE" dirty="0"/>
              <a:t>: … -&gt; </a:t>
            </a:r>
            <a:r>
              <a:rPr lang="de-DE" dirty="0" err="1"/>
              <a:t>Regel.type</a:t>
            </a:r>
            <a:r>
              <a:rPr lang="de-DE" dirty="0"/>
              <a:t>, Tiefe (Tiefe nicht genutzt)</a:t>
            </a:r>
          </a:p>
          <a:p>
            <a:r>
              <a:rPr lang="de-DE" dirty="0"/>
              <a:t>Rekursiv durch alle Regeln durchgehen und so die </a:t>
            </a:r>
            <a:r>
              <a:rPr lang="de-DE" dirty="0" err="1"/>
              <a:t>Map</a:t>
            </a:r>
            <a:r>
              <a:rPr lang="de-DE" dirty="0"/>
              <a:t> aufbauen</a:t>
            </a:r>
          </a:p>
          <a:p>
            <a:pPr lvl="1"/>
            <a:r>
              <a:rPr lang="de-DE" dirty="0"/>
              <a:t>Check auf:</a:t>
            </a:r>
          </a:p>
          <a:p>
            <a:pPr lvl="2"/>
            <a:r>
              <a:rPr lang="de-DE" dirty="0"/>
              <a:t>Korrekte Typen (immer abwechselnd)</a:t>
            </a:r>
          </a:p>
          <a:p>
            <a:pPr lvl="2"/>
            <a:r>
              <a:rPr lang="de-DE" dirty="0"/>
              <a:t>Korrekte Hierarchie (</a:t>
            </a:r>
            <a:r>
              <a:rPr lang="de-DE" dirty="0" err="1"/>
              <a:t>validate</a:t>
            </a:r>
            <a:r>
              <a:rPr lang="de-DE" dirty="0"/>
              <a:t> von </a:t>
            </a:r>
            <a:r>
              <a:rPr lang="de-DE" dirty="0" err="1"/>
              <a:t>ProjektManager</a:t>
            </a:r>
            <a:r>
              <a:rPr lang="de-DE" dirty="0"/>
              <a:t>)</a:t>
            </a:r>
          </a:p>
          <a:p>
            <a:pPr lvl="2"/>
            <a:r>
              <a:rPr lang="de-DE" dirty="0" err="1"/>
              <a:t>Except</a:t>
            </a:r>
            <a:r>
              <a:rPr lang="de-DE" dirty="0"/>
              <a:t> muss auch einen Unterschied zur eigentlichen Regel aufweisen</a:t>
            </a:r>
          </a:p>
          <a:p>
            <a:pPr lvl="1"/>
            <a:r>
              <a:rPr lang="de-DE" dirty="0"/>
              <a:t>Unterteilt in erste Regeln (selbst keine </a:t>
            </a:r>
            <a:r>
              <a:rPr lang="de-DE" dirty="0" err="1"/>
              <a:t>Excepts</a:t>
            </a:r>
            <a:r>
              <a:rPr lang="de-DE" dirty="0"/>
              <a:t>) und </a:t>
            </a:r>
            <a:r>
              <a:rPr lang="de-DE" dirty="0" err="1"/>
              <a:t>Excepts</a:t>
            </a:r>
            <a:r>
              <a:rPr lang="de-DE" dirty="0"/>
              <a:t> (weil Unterschiedlich geprüft werden muss bei uns)</a:t>
            </a:r>
          </a:p>
          <a:p>
            <a:pPr lvl="2"/>
            <a:r>
              <a:rPr lang="de-DE" dirty="0"/>
              <a:t>Problem: </a:t>
            </a:r>
            <a:r>
              <a:rPr lang="de-DE" dirty="0" err="1"/>
              <a:t>From</a:t>
            </a:r>
            <a:r>
              <a:rPr lang="de-DE" dirty="0"/>
              <a:t>:  jar1 </a:t>
            </a:r>
            <a:r>
              <a:rPr lang="de-DE" dirty="0" err="1"/>
              <a:t>To</a:t>
            </a:r>
            <a:r>
              <a:rPr lang="de-DE" dirty="0"/>
              <a:t>: Package2 und </a:t>
            </a:r>
            <a:r>
              <a:rPr lang="de-DE" dirty="0" err="1"/>
              <a:t>From</a:t>
            </a:r>
            <a:r>
              <a:rPr lang="de-DE" dirty="0"/>
              <a:t>: package1 </a:t>
            </a:r>
            <a:r>
              <a:rPr lang="de-DE" dirty="0" err="1"/>
              <a:t>To</a:t>
            </a:r>
            <a:r>
              <a:rPr lang="de-DE" dirty="0"/>
              <a:t>: jar2, weil diese ähnliche Klassen beeinflussen (bei uns nicht kontrolliert)</a:t>
            </a:r>
          </a:p>
          <a:p>
            <a:pPr marL="914400" lvl="2" indent="0">
              <a:buNone/>
            </a:pPr>
            <a:r>
              <a:rPr lang="de-DE" dirty="0"/>
              <a:t>=&gt; Unsere Idee: In der </a:t>
            </a:r>
            <a:r>
              <a:rPr lang="de-DE" dirty="0" err="1"/>
              <a:t>Map</a:t>
            </a:r>
            <a:r>
              <a:rPr lang="de-DE" dirty="0"/>
              <a:t> ein weiteren Boolean Wert hinzuzufügen, der als „lock“ genutzt werden könnte (leider nicht funktioniert)</a:t>
            </a:r>
          </a:p>
        </p:txBody>
      </p:sp>
    </p:spTree>
    <p:extLst>
      <p:ext uri="{BB962C8B-B14F-4D97-AF65-F5344CB8AC3E}">
        <p14:creationId xmlns:p14="http://schemas.microsoft.com/office/powerpoint/2010/main" val="13561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D3EF53-B413-810A-0A81-2E01047C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6.1 Praxis - 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63FD11-2B1B-DB7C-BC4C-FBC021A2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Durchgehen aller Klassen</a:t>
            </a:r>
          </a:p>
          <a:p>
            <a:pPr lvl="1"/>
            <a:r>
              <a:rPr lang="de-DE" dirty="0"/>
              <a:t>Deren Methoden (hier auch check, ob Teil einer </a:t>
            </a:r>
            <a:r>
              <a:rPr lang="de-DE" dirty="0" err="1"/>
              <a:t>jar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Suchen nach INVOKE-Instruktionen</a:t>
            </a:r>
          </a:p>
          <a:p>
            <a:pPr lvl="2"/>
            <a:r>
              <a:rPr lang="de-DE" dirty="0" err="1"/>
              <a:t>checkFrom</a:t>
            </a:r>
            <a:r>
              <a:rPr lang="de-DE" dirty="0"/>
              <a:t>-Methode</a:t>
            </a:r>
          </a:p>
          <a:p>
            <a:r>
              <a:rPr lang="de-DE" dirty="0"/>
              <a:t>Durchgehen aller Felder</a:t>
            </a:r>
          </a:p>
          <a:p>
            <a:pPr lvl="1"/>
            <a:r>
              <a:rPr lang="de-DE" dirty="0"/>
              <a:t>Validieren, ob Teil einer </a:t>
            </a:r>
            <a:r>
              <a:rPr lang="de-DE" dirty="0" err="1"/>
              <a:t>jar</a:t>
            </a:r>
            <a:endParaRPr lang="de-DE" dirty="0"/>
          </a:p>
          <a:p>
            <a:pPr lvl="1"/>
            <a:r>
              <a:rPr lang="de-DE" dirty="0"/>
              <a:t>Falls Liste weiter bearbeiten</a:t>
            </a:r>
          </a:p>
          <a:p>
            <a:pPr lvl="1"/>
            <a:r>
              <a:rPr lang="de-DE" dirty="0" err="1"/>
              <a:t>checkFrom</a:t>
            </a:r>
            <a:r>
              <a:rPr lang="de-DE" dirty="0"/>
              <a:t>-Methode</a:t>
            </a:r>
          </a:p>
        </p:txBody>
      </p:sp>
    </p:spTree>
    <p:extLst>
      <p:ext uri="{BB962C8B-B14F-4D97-AF65-F5344CB8AC3E}">
        <p14:creationId xmlns:p14="http://schemas.microsoft.com/office/powerpoint/2010/main" val="199400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46D80-7BF6-3B91-C666-A5C2AEF0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6.1 Praxis - </a:t>
            </a:r>
            <a:r>
              <a:rPr lang="de-DE" dirty="0" err="1"/>
              <a:t>Analysis.checkFrom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151687-2B57-BE04-61B3-5A323A3F0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Zuerst wird nach einem passenden </a:t>
            </a:r>
            <a:r>
              <a:rPr lang="de-DE" dirty="0" err="1"/>
              <a:t>From</a:t>
            </a:r>
            <a:r>
              <a:rPr lang="de-DE" dirty="0"/>
              <a:t> gesucht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Existiert eine Rule mit dieser Klasse als „</a:t>
            </a:r>
            <a:r>
              <a:rPr lang="de-DE" dirty="0" err="1"/>
              <a:t>From</a:t>
            </a:r>
            <a:r>
              <a:rPr lang="de-DE" dirty="0"/>
              <a:t>“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Existiert eine Rule mit diesem Package als „</a:t>
            </a:r>
            <a:r>
              <a:rPr lang="de-DE" dirty="0" err="1"/>
              <a:t>From</a:t>
            </a:r>
            <a:r>
              <a:rPr lang="de-DE" dirty="0"/>
              <a:t>“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Existiert eine Rule mit dieser Jar als „</a:t>
            </a:r>
            <a:r>
              <a:rPr lang="de-DE" dirty="0" err="1"/>
              <a:t>From</a:t>
            </a:r>
            <a:r>
              <a:rPr lang="de-DE" dirty="0"/>
              <a:t>“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Sonst „</a:t>
            </a:r>
            <a:r>
              <a:rPr lang="de-DE" dirty="0" err="1"/>
              <a:t>DefaultRule</a:t>
            </a:r>
            <a:r>
              <a:rPr lang="de-DE" dirty="0"/>
              <a:t>“</a:t>
            </a:r>
          </a:p>
          <a:p>
            <a:r>
              <a:rPr lang="de-DE" dirty="0"/>
              <a:t>Nach jedem dieser Schritte (außer natürlich 4.) weiter mit </a:t>
            </a:r>
            <a:r>
              <a:rPr lang="de-DE" dirty="0" err="1"/>
              <a:t>checkTo</a:t>
            </a:r>
            <a:endParaRPr lang="de-DE" dirty="0"/>
          </a:p>
          <a:p>
            <a:pPr lvl="1"/>
            <a:r>
              <a:rPr lang="de-DE" dirty="0"/>
              <a:t>Geht auch durch von Klasse -&gt; Jar</a:t>
            </a:r>
          </a:p>
          <a:p>
            <a:pPr lvl="1"/>
            <a:r>
              <a:rPr lang="de-DE" dirty="0"/>
              <a:t>Falls es eine Regel gibt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de-DE" dirty="0"/>
              <a:t>Abbruch und speichern, ob „FORBIDDEN“ oder nicht</a:t>
            </a:r>
          </a:p>
          <a:p>
            <a:r>
              <a:rPr lang="de-DE" dirty="0"/>
              <a:t>Falls „FORBIDDEN“, speichern in einem Array</a:t>
            </a:r>
          </a:p>
          <a:p>
            <a:pPr lvl="1"/>
            <a:r>
              <a:rPr lang="de-DE" dirty="0"/>
              <a:t>Array wird in Konsole und einer File ausgegeben</a:t>
            </a:r>
          </a:p>
        </p:txBody>
      </p:sp>
    </p:spTree>
    <p:extLst>
      <p:ext uri="{BB962C8B-B14F-4D97-AF65-F5344CB8AC3E}">
        <p14:creationId xmlns:p14="http://schemas.microsoft.com/office/powerpoint/2010/main" val="158672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5AD95-7EF1-E1C8-14BC-469FDD19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6.1 Praxis – Ausgabe (Beispiel)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D5415EC-912C-B0F2-19F2-F0DBF21EF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1" y="1396410"/>
            <a:ext cx="12169499" cy="4082902"/>
          </a:xfrm>
        </p:spPr>
      </p:pic>
    </p:spTree>
    <p:extLst>
      <p:ext uri="{BB962C8B-B14F-4D97-AF65-F5344CB8AC3E}">
        <p14:creationId xmlns:p14="http://schemas.microsoft.com/office/powerpoint/2010/main" val="198137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07A1-F2BD-3DD4-96E7-8BD9E9FB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7B86F4-C0D7-BFE2-4706-3719B564B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32"/>
            <a:ext cx="10515600" cy="572963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6.2 Evaluationsaufgabe</a:t>
            </a:r>
          </a:p>
        </p:txBody>
      </p:sp>
    </p:spTree>
    <p:extLst>
      <p:ext uri="{BB962C8B-B14F-4D97-AF65-F5344CB8AC3E}">
        <p14:creationId xmlns:p14="http://schemas.microsoft.com/office/powerpoint/2010/main" val="409166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9F13C-880A-BD5D-1160-0AF6E51D6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6.2 Kurze Vorstellung unseres Ground-Truths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502B30-211D-015C-6CE2-D8DAE3017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86" y="1240466"/>
            <a:ext cx="8330447" cy="532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46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644C2-949E-3CEC-D994-4A845FC8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1194"/>
          </a:xfrm>
        </p:spPr>
        <p:txBody>
          <a:bodyPr/>
          <a:lstStyle/>
          <a:p>
            <a:pPr algn="ctr"/>
            <a:r>
              <a:rPr lang="de-DE" dirty="0"/>
              <a:t>Ausgabe unseres Ground-</a:t>
            </a:r>
            <a:r>
              <a:rPr lang="de-DE" dirty="0" err="1"/>
              <a:t>Thruths</a:t>
            </a:r>
            <a:r>
              <a:rPr lang="de-DE" dirty="0"/>
              <a:t> zeigen</a:t>
            </a:r>
          </a:p>
        </p:txBody>
      </p:sp>
    </p:spTree>
    <p:extLst>
      <p:ext uri="{BB962C8B-B14F-4D97-AF65-F5344CB8AC3E}">
        <p14:creationId xmlns:p14="http://schemas.microsoft.com/office/powerpoint/2010/main" val="1529723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3F97-3D3D-1293-7090-A998B786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4E531D-7B69-82F0-67DD-B95E5C3E2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332"/>
            <a:ext cx="10515600" cy="572963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DE" dirty="0"/>
              <a:t>Tests</a:t>
            </a:r>
          </a:p>
        </p:txBody>
      </p:sp>
    </p:spTree>
    <p:extLst>
      <p:ext uri="{BB962C8B-B14F-4D97-AF65-F5344CB8AC3E}">
        <p14:creationId xmlns:p14="http://schemas.microsoft.com/office/powerpoint/2010/main" val="268171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CB8978E-FB96-E8CF-A44F-3E51E7AA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70" y="1543743"/>
            <a:ext cx="11660074" cy="358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04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60169-7C33-3D2F-D0B3-7C87BAD9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Arten von Testabdeckung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64B9B4-1998-46B5-7A47-064EB7456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Branch – Verzweigung (</a:t>
            </a:r>
            <a:r>
              <a:rPr lang="de-DE" dirty="0" err="1"/>
              <a:t>if</a:t>
            </a:r>
            <a:r>
              <a:rPr lang="de-DE" dirty="0"/>
              <a:t> (</a:t>
            </a:r>
            <a:r>
              <a:rPr lang="de-DE" dirty="0" err="1"/>
              <a:t>true</a:t>
            </a:r>
            <a:r>
              <a:rPr lang="de-DE" dirty="0"/>
              <a:t>, </a:t>
            </a:r>
            <a:r>
              <a:rPr lang="de-DE" dirty="0" err="1"/>
              <a:t>false</a:t>
            </a:r>
            <a:r>
              <a:rPr lang="de-DE" dirty="0"/>
              <a:t>), switch)</a:t>
            </a:r>
          </a:p>
          <a:p>
            <a:r>
              <a:rPr lang="de-DE" dirty="0"/>
              <a:t>Statement – jede Anweisung soll ausgeführt werden (</a:t>
            </a:r>
            <a:r>
              <a:rPr lang="de-DE" dirty="0" err="1"/>
              <a:t>print</a:t>
            </a:r>
            <a:r>
              <a:rPr lang="de-DE" dirty="0"/>
              <a:t>)</a:t>
            </a:r>
          </a:p>
          <a:p>
            <a:r>
              <a:rPr lang="de-DE" dirty="0"/>
              <a:t>Methoden - Methoden</a:t>
            </a:r>
          </a:p>
          <a:p>
            <a:r>
              <a:rPr lang="de-DE" dirty="0"/>
              <a:t>Klassen - Klassen</a:t>
            </a:r>
          </a:p>
          <a:p>
            <a:r>
              <a:rPr lang="de-DE" dirty="0"/>
              <a:t>Line – Eine Line kann mehrere Anweisungen haben (ähnelt Statement), muss aber nur erreicht worden sein</a:t>
            </a:r>
          </a:p>
          <a:p>
            <a:r>
              <a:rPr lang="de-DE" dirty="0"/>
              <a:t>Instruktion – Je nach Sprache sehr ähnlich zu Statement</a:t>
            </a:r>
          </a:p>
        </p:txBody>
      </p:sp>
    </p:spTree>
    <p:extLst>
      <p:ext uri="{BB962C8B-B14F-4D97-AF65-F5344CB8AC3E}">
        <p14:creationId xmlns:p14="http://schemas.microsoft.com/office/powerpoint/2010/main" val="264887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Breitbild</PresentationFormat>
  <Paragraphs>76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</vt:lpstr>
      <vt:lpstr>Statische Programmanalyse</vt:lpstr>
      <vt:lpstr>PowerPoint-Präsentation</vt:lpstr>
      <vt:lpstr>6.1 Theorie – Grundlegender Aufbau</vt:lpstr>
      <vt:lpstr>6.1 Praxis - ProjektManager</vt:lpstr>
      <vt:lpstr>6.1 Praxis - CheckJSON</vt:lpstr>
      <vt:lpstr>6.1 Praxis - Analysis</vt:lpstr>
      <vt:lpstr>6.1 Praxis - Analysis.checkFrom</vt:lpstr>
      <vt:lpstr>6.1 Praxis – Ausgabe (Beispiel)</vt:lpstr>
      <vt:lpstr>PowerPoint-Präsentation</vt:lpstr>
      <vt:lpstr>6.2 Kurze Vorstellung unseres Ground-Truths</vt:lpstr>
      <vt:lpstr>Ausgabe unseres Ground-Thruths zeigen</vt:lpstr>
      <vt:lpstr>PowerPoint-Präsentation</vt:lpstr>
      <vt:lpstr>PowerPoint-Präsentation</vt:lpstr>
      <vt:lpstr>Arten von Testabdeckung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Roman Pauli</dc:creator>
  <cp:lastModifiedBy>Roman Pauli</cp:lastModifiedBy>
  <cp:revision>87</cp:revision>
  <dcterms:created xsi:type="dcterms:W3CDTF">2025-01-01T23:51:07Z</dcterms:created>
  <dcterms:modified xsi:type="dcterms:W3CDTF">2025-01-02T00:32:53Z</dcterms:modified>
</cp:coreProperties>
</file>
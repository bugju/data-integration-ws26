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7" r:id="rId3"/>
    <p:sldId id="259" r:id="rId4"/>
    <p:sldId id="288" r:id="rId5"/>
    <p:sldId id="275" r:id="rId6"/>
    <p:sldId id="260" r:id="rId7"/>
    <p:sldId id="289" r:id="rId8"/>
    <p:sldId id="290" r:id="rId9"/>
    <p:sldId id="294" r:id="rId10"/>
    <p:sldId id="291" r:id="rId11"/>
    <p:sldId id="295" r:id="rId12"/>
    <p:sldId id="293" r:id="rId13"/>
    <p:sldId id="292" r:id="rId14"/>
    <p:sldId id="296" r:id="rId15"/>
    <p:sldId id="297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CD39B7-3B95-490B-A2E4-AA9544078DCB}" v="18" dt="2024-11-19T14:41:51.3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65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5T16:10:00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4 695 24575,'-2'-76'0,"0"39"0,2-1 0,1 1 0,10-57 0,-7 79 0,0 0 0,2 0 0,0 1 0,0 0 0,14-21 0,48-62 0,-51 75 0,6-8 0,2 0 0,0 3 0,48-40 0,-67 63 0,1 0 0,0 0 0,0 0 0,0 1 0,0 1 0,0-1 0,1 1 0,-1 0 0,1 1 0,0 0 0,-1 0 0,12 0 0,-1 1 0,-1 1 0,1 0 0,0 2 0,23 5 0,-32-5 0,0 0 0,0 1 0,0 0 0,-1 0 0,1 1 0,-1 0 0,0 0 0,-1 1 0,1 0 0,-1 1 0,0-1 0,0 2 0,-1-1 0,8 12 0,0-4 0,0 0 0,29 23 0,-24-22 0,19 11 0,-32-24 0,0 1 0,0 0 0,0 0 0,0 0 0,-1 1 0,0 0 0,0 0 0,0 0 0,-1 1 0,8 11 0,22 42 0,-27-49 0,-1-1 0,0 1 0,0 0 0,-1 0 0,-1 1 0,1-1 0,-2 1 0,0 0 0,0 0 0,2 17 0,-7 143-1365,2-148-5461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5T16:10:02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0 791 24575,'2'-26'0,"7"-47"0,0 17 0,-7 32 0,2-11 0,1 1 0,1-1 0,13-41 0,-9 54 0,24-41 0,-8 16 0,-17 31 0,1 0 0,1 1 0,0 0 0,0 0 0,2 1 0,0 1 0,0 0 0,1 1 0,1 0 0,22-13 0,-5 3 0,-13 9 0,0 0 0,0 1 0,1 1 0,1 1 0,0 0 0,34-9 0,-28 12 0,0 1 0,1 2 0,-1 0 0,1 2 0,0 1 0,0 2 0,0 0 0,36 8 0,-59-8 0,1 1 0,-1 0 0,0 0 0,0 0 0,0 1 0,-1-1 0,1 1 0,0 1 0,-1-1 0,0 0 0,0 1 0,0 0 0,0 0 0,-1 0 0,1 1 0,-1-1 0,0 1 0,-1 0 0,4 5 0,2 11 0,0 0 0,-1 0 0,6 33 0,0-3 0,-6-21 0,6 48 0,3 14 0,-12-80 0,0-1 0,0 0 0,12 19 0,-11-21 0,-1-1 0,0 1 0,0-1 0,0 1 0,-1 0 0,-1 1 0,3 12 0,8 57-1365,-10-64-5461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5T16:13:23.2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38 566 24575,'-2'0'0,"0"0"0,1-1 0,-1 1 0,1-1 0,-1 0 0,1 1 0,-1-1 0,1 0 0,-1 0 0,1 0 0,0 0 0,-1 0 0,1 0 0,0-1 0,0 1 0,0 0 0,0 0 0,0-1 0,0 1 0,0-1 0,1 1 0,-1-1 0,0 1 0,1-1 0,-1 0 0,1 1 0,0-1 0,-1-3 0,-1-4 0,1 0 0,0-1 0,0-16 0,2 14 0,0 0 0,1 0 0,0 1 0,1-1 0,0 0 0,1 1 0,1 0 0,7-14 0,7-9 0,28-38 0,-31 50 0,2-5 0,1 2 0,1 0 0,36-33 0,-46 49 0,1 0 0,-1 1 0,2 1 0,-1 0 0,1 0 0,0 1 0,0 0 0,0 1 0,1 1 0,0 0 0,13-2 0,3 1 0,-11 1 0,0 1 0,36-2 0,-49 5 0,-1 1 0,1-1 0,0 1 0,0 0 0,0 0 0,0 0 0,-1 0 0,1 1 0,-1 0 0,1 0 0,-1 0 0,0 1 0,1-1 0,-1 1 0,6 6 0,15 15 0,53 56 0,-49-51 0,-22-23 0,0 1 0,-1-1 0,0 1 0,10 15 0,31 42 0,-38-54 0,0 1 0,-1 0 0,0 0 0,-1 1 0,0 0 0,-1 0 0,0 1 0,5 18 0,-7-18-273,1 0 0,0 0 0,1-1 0,12 21 0,-9-19-6553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5T16:13:25.0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0 516 24575,'0'-11'0,"1"0"0,0 0 0,0 1 0,1-1 0,1 0 0,0 1 0,0 0 0,1-1 0,0 1 0,1 1 0,0-1 0,0 1 0,1 0 0,1 0 0,-1 0 0,1 1 0,16-14 0,-5 3 0,-9 9 0,1 0 0,1 0 0,-1 1 0,1 0 0,16-8 0,32-25 0,-45 30 0,1 1 0,20-11 0,96-61 0,-12 29 0,-110 51 0,0 0 0,0 0 0,0 1 0,0 0 0,0 1 0,0 0 0,0 0 0,1 1 0,-1 0 0,12 2 0,-16-1 0,-1 0 0,1 0 0,-1 0 0,1 0 0,-1 1 0,1 0 0,-1 0 0,0 0 0,0 0 0,0 1 0,0 0 0,0 0 0,-1 0 0,1 0 0,-1 0 0,0 1 0,0-1 0,0 1 0,0 0 0,-1 0 0,4 6 0,1 4 0,0-1 0,1-1 0,12 16 0,-9-15 0,-1 1 0,9 19 0,29 78 0,-39-85 21,11 47-1,-9-28-1426,-7-30-5420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1DA949-2789-EFA2-003E-F5EE80F9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64ED248-3952-8604-551A-7282A53199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CCFC75-26BA-5B2E-BE94-C2C0DC0B9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16.12.2024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02F1FB-5051-42DF-8D4F-969C5F2A2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0A0CAB-0BF3-3545-E1AA-CBF747460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5484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3E2F40-2567-98A2-5BAB-E102345A4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E00B41-1E9B-F03D-7B31-F028C2D2E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A1F9D7-E913-5DFA-DFDA-250509DCA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16.12.2024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730BAE7-5257-E45D-A36A-B80178EFE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935A9B-9F60-A431-B2AF-DE3E9ACAA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7373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564BBC-065C-9A9C-B7F4-84E6939CD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18A69B-35BE-FD2A-DB42-A08888482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18565D-7067-BBCF-11A8-8256C0F04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16.12.2024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B0D26B-20C6-12C6-DE57-584C5E4BD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FB037C-0CCE-7F71-B93D-129B97D67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243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E2DF39-F363-9CCC-F05C-07EB58B39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9A159A-433D-1E8F-8C64-254975E02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7977873-2646-6606-19B4-0A03FA802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76FC1B8-83B1-3FE4-F97E-666738513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16.12.2024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47D71F7-B540-C272-08A2-B7F52A522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09F258B-6BE6-F1DD-551C-36334C572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62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2065EA-DF40-7A31-8BF4-42E5467A9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070FAFE-1E65-24BF-D1C6-1208FB8D9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465D40A-BBE5-7E55-FA51-9F94011A2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A49BAD7-5131-6354-F48C-55020C4F75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F6FF88C-DF29-B34E-D83C-5853345800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71EA6E7-7F59-C8F2-A9D5-8A88377C5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16.12.2024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67868A4-4DFC-2B98-2F0E-78D551E29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F924337-55D9-F03C-EFDD-CBA4A63BE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9984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2DB27F-62FE-D409-B4DD-CA76C1E26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6909887-305C-F505-69D4-8CA21C91B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16.12.2024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29D493C-EC6F-ADF6-3BF0-D24B0DE07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A3DAB5C-EADB-C67C-BDC4-B491A6A36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099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333770C-4660-B035-C7E8-93B34B456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16.12.2024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E75D284-C250-3826-373A-C2C6069E5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0847534-22CF-B267-61BB-F8D52824E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3648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7699ED-2334-3EC2-622C-14FF7D3CC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5D2569-E18A-9EC4-779D-AC1357A45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325284F-F394-C9CE-968A-8E85B5AE5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E02706D-3AA9-89BB-0AEF-7B39D0B49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16.12.2024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7626439-89FB-CC65-AFF5-015DE2FDE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9C3744F-7698-E09D-4970-57D7261EC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2394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E4F156-B022-9A6C-6507-C099DAFDB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E1877B9-FA13-2795-5814-07788BD43A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CF1B34C-142B-4443-C1E0-47F9662A4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7585C3-A65A-6C1A-5A6B-C5139EB97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16.12.2024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5A74665-4C9D-47D7-A573-501D4C62E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A4D99F1-426A-6792-C652-D8F66D19D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3752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BCDE31-5DD5-289E-8400-685C1219E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235A87B-D971-90D2-B042-0C22F6E4F1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9A98EF-E876-598B-9F5E-33330D888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16.12.2024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E5CDB3-E8E7-22A9-68D2-CAD3192E8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2CC790-1AF5-72F6-14AB-5530CB5E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4131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2D94AD5-D270-23CD-F345-FD91E86BF0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F71696D-C08B-75C7-E360-E9E43B34A1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6098CC-F542-A4E5-A435-0269757C6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945F-2F76-456A-B408-969CF56795F1}" type="datetimeFigureOut">
              <a:rPr lang="de-DE" smtClean="0"/>
              <a:t>16.12.2024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672E5E-020D-B6FB-A689-D7BEF18A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B2AB62-D056-B560-1E1D-A1A6E3218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4278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F6C810A-B2C1-30BD-0C5B-AEE025412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A10AEE-B0E0-ED7A-9409-5DC5E0C96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AA6C68-319E-AC2E-DD67-A32D654DBD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7C945F-2F76-456A-B408-969CF56795F1}" type="datetimeFigureOut">
              <a:rPr lang="de-DE" smtClean="0"/>
              <a:t>16.12.2024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8285F4-7947-0DE6-DF75-E48B19BCB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0B9D1-1C99-994E-78C2-F30F5EA88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5B75F4-2FC5-43C9-BF8A-99E1EB89DA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192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D2C7E7-E257-4EBC-9658-D49A5CC25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de-DE" sz="5200" dirty="0">
                <a:solidFill>
                  <a:schemeClr val="tx2"/>
                </a:solidFill>
              </a:rPr>
              <a:t>Statische Programmanalyse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F3BDAA2-ECB1-47E0-B3BE-F955A58A2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5368" y="4160126"/>
            <a:ext cx="6105194" cy="6820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Abstrakte</a:t>
            </a:r>
            <a:r>
              <a:rPr lang="en-US" dirty="0">
                <a:solidFill>
                  <a:schemeClr val="tx2"/>
                </a:solidFill>
              </a:rPr>
              <a:t> Interpretation</a:t>
            </a:r>
            <a:endParaRPr lang="de-DE" dirty="0">
              <a:solidFill>
                <a:schemeClr val="tx2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166F447-08C2-575D-4845-A391A32A58A6}"/>
              </a:ext>
            </a:extLst>
          </p:cNvPr>
          <p:cNvSpPr txBox="1"/>
          <p:nvPr/>
        </p:nvSpPr>
        <p:spPr>
          <a:xfrm>
            <a:off x="8534400" y="4886960"/>
            <a:ext cx="29565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>
                <a:cs typeface="Calibri"/>
              </a:rPr>
              <a:t>Gruppe 3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6914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F3AAA5-0EE5-2C4B-4081-11DC2889C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7332"/>
            <a:ext cx="10515600" cy="5729631"/>
          </a:xfrm>
        </p:spPr>
        <p:txBody>
          <a:bodyPr anchor="ctr"/>
          <a:lstStyle/>
          <a:p>
            <a:pPr marL="0" indent="0" algn="ctr">
              <a:buNone/>
            </a:pPr>
            <a:r>
              <a:rPr lang="de-DE" dirty="0"/>
              <a:t>5.1 Analyseaufgabe/ 5.2 Usability</a:t>
            </a:r>
          </a:p>
        </p:txBody>
      </p:sp>
    </p:spTree>
    <p:extLst>
      <p:ext uri="{BB962C8B-B14F-4D97-AF65-F5344CB8AC3E}">
        <p14:creationId xmlns:p14="http://schemas.microsoft.com/office/powerpoint/2010/main" val="2002139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540ED9-CD24-3C95-8844-60CB3EDA3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Theorie 4.1/ 4.2 – Eingabe 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D7FA5F1-41C6-4914-F879-3B11D75D0648}"/>
              </a:ext>
            </a:extLst>
          </p:cNvPr>
          <p:cNvSpPr txBox="1"/>
          <p:nvPr/>
        </p:nvSpPr>
        <p:spPr>
          <a:xfrm>
            <a:off x="486802" y="1947211"/>
            <a:ext cx="1111752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/>
              <a:t>GUI (</a:t>
            </a:r>
            <a:r>
              <a:rPr lang="de-DE" sz="2800" dirty="0" err="1"/>
              <a:t>scala</a:t>
            </a:r>
            <a:r>
              <a:rPr lang="de-DE" sz="2800" dirty="0"/>
              <a:t> swing)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/>
              <a:t>Programm anpassen, sodass </a:t>
            </a:r>
            <a:r>
              <a:rPr lang="de-DE" sz="2800" dirty="0" err="1"/>
              <a:t>json</a:t>
            </a:r>
            <a:r>
              <a:rPr lang="de-DE" sz="2800" dirty="0"/>
              <a:t> entsprechend Vorgabe erstellt wird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800" dirty="0"/>
              <a:t>Play-</a:t>
            </a:r>
            <a:r>
              <a:rPr lang="de-DE" sz="2800" dirty="0" err="1"/>
              <a:t>json</a:t>
            </a:r>
            <a:r>
              <a:rPr lang="de-DE" sz="2800" dirty="0"/>
              <a:t> zur Erstellung (Version 2.10.5)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/>
              <a:t>Auch Analyse öffnen?</a:t>
            </a:r>
          </a:p>
          <a:p>
            <a:pPr marL="914400" lvl="1" indent="-457200">
              <a:buFont typeface="Symbol" panose="05050102010706020507" pitchFamily="18" charset="2"/>
              <a:buChar char="Þ"/>
            </a:pPr>
            <a:r>
              <a:rPr lang="de-DE" sz="2800" dirty="0"/>
              <a:t>Nein (Benchmark, getrennt konfigurierbar)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/>
              <a:t>Wie soll Benchmark durchgeführt werden</a:t>
            </a:r>
          </a:p>
          <a:p>
            <a:pPr marL="914400" lvl="1" indent="-457200">
              <a:buFont typeface="Symbol" panose="05050102010706020507" pitchFamily="18" charset="2"/>
              <a:buChar char="Þ"/>
            </a:pPr>
            <a:r>
              <a:rPr lang="de-DE" sz="2800" dirty="0"/>
              <a:t>Python Skript</a:t>
            </a:r>
          </a:p>
        </p:txBody>
      </p:sp>
    </p:spTree>
    <p:extLst>
      <p:ext uri="{BB962C8B-B14F-4D97-AF65-F5344CB8AC3E}">
        <p14:creationId xmlns:p14="http://schemas.microsoft.com/office/powerpoint/2010/main" val="883708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4D95E8-F868-6E13-8566-DEB9C1081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Theorie 4.1/ 4.2 - Ausgabe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38E130-F6E6-194B-E7D8-62EC6C94B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GUI</a:t>
            </a:r>
          </a:p>
          <a:p>
            <a:r>
              <a:rPr lang="de-DE" sz="2800" dirty="0"/>
              <a:t>Analyse öffnen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de-DE" sz="2800" dirty="0"/>
              <a:t>Automatisch vs. Auswählen</a:t>
            </a:r>
          </a:p>
          <a:p>
            <a:pPr marL="457200" lvl="1" indent="0">
              <a:buNone/>
            </a:pPr>
            <a:r>
              <a:rPr lang="de-DE" sz="2800" dirty="0"/>
              <a:t>=&gt; Bei uns beides</a:t>
            </a:r>
          </a:p>
          <a:p>
            <a:r>
              <a:rPr lang="de-DE" dirty="0"/>
              <a:t>Benchmark öffnen</a:t>
            </a:r>
          </a:p>
          <a:p>
            <a:pPr marL="457200" lvl="1" indent="0">
              <a:buNone/>
            </a:pPr>
            <a:r>
              <a:rPr lang="de-DE" dirty="0"/>
              <a:t>=&gt; Ähnlich wie normalen Report öffnen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9728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B51FFF-0EFA-7C04-8227-38F1742CE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Praxis 4.1/ 4.2 - Eingabe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1B7F9B-912A-5B4B-2F7E-2599EC221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 err="1"/>
              <a:t>CreateAnalysis</a:t>
            </a:r>
            <a:r>
              <a:rPr lang="de-DE" dirty="0"/>
              <a:t> starten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Projekte welche sich in bestimmten Verzeichnis befinden (./Projects) auslesen (erste Auswahl)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Domains anbieten (zweite Auswahl)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Analyse starten</a:t>
            </a:r>
          </a:p>
          <a:p>
            <a:pPr lvl="1"/>
            <a:r>
              <a:rPr lang="de-DE" dirty="0"/>
              <a:t>Gibt Feedback über Fertigstellung</a:t>
            </a:r>
          </a:p>
          <a:p>
            <a:pPr lvl="1"/>
            <a:endParaRPr lang="de-DE" dirty="0"/>
          </a:p>
          <a:p>
            <a:pPr marL="457200" lvl="1" indent="0">
              <a:buNone/>
            </a:pPr>
            <a:r>
              <a:rPr lang="de-DE" dirty="0"/>
              <a:t>=&gt; Zeigen von </a:t>
            </a:r>
            <a:r>
              <a:rPr lang="de-DE" dirty="0" err="1"/>
              <a:t>CreateAnalysis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25494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597B8C-4872-E709-D9CC-8767D3348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Praxis 4.1 – Ausgabe/ Einlesen des Reports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AF7E46-E065-EEEA-D6F3-657A16EA8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de-DE" dirty="0" err="1"/>
              <a:t>OpenAnalyse</a:t>
            </a:r>
            <a:r>
              <a:rPr lang="de-DE" dirty="0"/>
              <a:t> starten</a:t>
            </a:r>
          </a:p>
          <a:p>
            <a:pPr lvl="1"/>
            <a:r>
              <a:rPr lang="de-DE" dirty="0"/>
              <a:t>Projekte werden in der Auswahl (falls erkannt) angezeigt</a:t>
            </a:r>
          </a:p>
          <a:p>
            <a:pPr lvl="2"/>
            <a:r>
              <a:rPr lang="de-DE" dirty="0"/>
              <a:t>Einschließlich grundlegenden Informationen (Softwaresystem und Domain)</a:t>
            </a:r>
          </a:p>
          <a:p>
            <a:pPr lvl="2"/>
            <a:r>
              <a:rPr lang="de-DE" dirty="0"/>
              <a:t>Alternativ über </a:t>
            </a:r>
            <a:r>
              <a:rPr lang="de-DE" dirty="0" err="1"/>
              <a:t>FileChooser</a:t>
            </a:r>
            <a:r>
              <a:rPr lang="de-DE" dirty="0"/>
              <a:t> öffnen</a:t>
            </a:r>
          </a:p>
          <a:p>
            <a:pPr lvl="2"/>
            <a:r>
              <a:rPr lang="de-DE" dirty="0"/>
              <a:t>Benchmark über </a:t>
            </a:r>
            <a:r>
              <a:rPr lang="de-DE" dirty="0" err="1"/>
              <a:t>Menubar</a:t>
            </a:r>
            <a:r>
              <a:rPr lang="de-DE" dirty="0"/>
              <a:t> auswählbar</a:t>
            </a:r>
          </a:p>
          <a:p>
            <a:pPr lvl="1"/>
            <a:r>
              <a:rPr lang="de-DE" dirty="0"/>
              <a:t>Man kann auch jetzt noch ein Projekt erstellen und nutzen (wird automatisch zur Combobox hinzugefügt)</a:t>
            </a:r>
          </a:p>
          <a:p>
            <a:pPr lvl="2"/>
            <a:r>
              <a:rPr lang="de-DE" dirty="0"/>
              <a:t>Nutzer erhält Information über geöffnete Reports oder neu erstellte Reports in </a:t>
            </a:r>
            <a:r>
              <a:rPr lang="de-DE" dirty="0" err="1"/>
              <a:t>Textarea</a:t>
            </a:r>
            <a:endParaRPr lang="de-DE" dirty="0"/>
          </a:p>
          <a:p>
            <a:pPr marL="457200" lvl="1" indent="0">
              <a:buNone/>
            </a:pPr>
            <a:r>
              <a:rPr lang="de-DE" dirty="0"/>
              <a:t>=&gt; Zeigen von </a:t>
            </a:r>
            <a:r>
              <a:rPr lang="de-DE" dirty="0" err="1"/>
              <a:t>OpenAnalysis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55353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0F7960-4E37-B9D8-70CD-4255BCED6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6009"/>
            <a:ext cx="10515600" cy="5630954"/>
          </a:xfrm>
        </p:spPr>
        <p:txBody>
          <a:bodyPr anchor="ctr"/>
          <a:lstStyle/>
          <a:p>
            <a:pPr marL="0" indent="0" algn="ctr">
              <a:buNone/>
            </a:pPr>
            <a:r>
              <a:rPr lang="de-DE" dirty="0"/>
              <a:t>5.3 Evaluationsaufgabe</a:t>
            </a:r>
          </a:p>
        </p:txBody>
      </p:sp>
    </p:spTree>
    <p:extLst>
      <p:ext uri="{BB962C8B-B14F-4D97-AF65-F5344CB8AC3E}">
        <p14:creationId xmlns:p14="http://schemas.microsoft.com/office/powerpoint/2010/main" val="3144870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E1A889-A872-FB9C-7395-AFDFF108C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Laufzeit Auswertung einzelner Projekte</a:t>
            </a:r>
          </a:p>
        </p:txBody>
      </p:sp>
      <p:pic>
        <p:nvPicPr>
          <p:cNvPr id="8" name="Inhaltsplatzhalter 7" descr="Ein Bild, das Text, Screenshot, Diagramm, Reihe enthält.&#10;&#10;Automatisch generierte Beschreibung">
            <a:extLst>
              <a:ext uri="{FF2B5EF4-FFF2-40B4-BE49-F238E27FC236}">
                <a16:creationId xmlns:a16="http://schemas.microsoft.com/office/drawing/2014/main" id="{E19B6C87-E24C-8A61-C7E1-B631453359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399" y="1367136"/>
            <a:ext cx="6713209" cy="5125739"/>
          </a:xfrm>
        </p:spPr>
      </p:pic>
    </p:spTree>
    <p:extLst>
      <p:ext uri="{BB962C8B-B14F-4D97-AF65-F5344CB8AC3E}">
        <p14:creationId xmlns:p14="http://schemas.microsoft.com/office/powerpoint/2010/main" val="784365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046A31-740E-BA10-17E7-8219E0674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Anmerkungen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2C4C403-6342-7EA5-C873-D32AEB185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‚Ranking‘ der Laufzeit:</a:t>
            </a:r>
          </a:p>
          <a:p>
            <a:pPr marL="914400" lvl="1" indent="-457200">
              <a:buFont typeface="+mj-lt"/>
              <a:buAutoNum type="arabicPeriod"/>
            </a:pPr>
            <a:r>
              <a:rPr lang="de-DE" dirty="0"/>
              <a:t>I0_PrimitiveTACAIDomain</a:t>
            </a:r>
          </a:p>
          <a:p>
            <a:pPr marL="914400" lvl="1" indent="-457200">
              <a:buFont typeface="+mj-lt"/>
              <a:buAutoNum type="arabicPeriod"/>
            </a:pPr>
            <a:r>
              <a:rPr lang="de-DE" dirty="0"/>
              <a:t>Alle drei gleich</a:t>
            </a:r>
          </a:p>
          <a:p>
            <a:pPr lvl="2"/>
            <a:r>
              <a:rPr lang="de-DE" dirty="0"/>
              <a:t>I1_DefaultDomain</a:t>
            </a:r>
          </a:p>
          <a:p>
            <a:pPr lvl="2"/>
            <a:r>
              <a:rPr lang="de-DE" dirty="0"/>
              <a:t>I1_DefaultIntervalValuesDomain</a:t>
            </a:r>
          </a:p>
          <a:p>
            <a:pPr lvl="2"/>
            <a:r>
              <a:rPr lang="de-DE" dirty="0"/>
              <a:t>I1_DefaultSetValuesDomain</a:t>
            </a:r>
          </a:p>
          <a:p>
            <a:pPr marL="914400" lvl="1" indent="-457200">
              <a:buFont typeface="+mj-lt"/>
              <a:buAutoNum type="arabicPeriod"/>
            </a:pPr>
            <a:r>
              <a:rPr lang="de-DE" dirty="0"/>
              <a:t>I2_DefaultPerfomInvocationsDomain</a:t>
            </a:r>
          </a:p>
        </p:txBody>
      </p:sp>
    </p:spTree>
    <p:extLst>
      <p:ext uri="{BB962C8B-B14F-4D97-AF65-F5344CB8AC3E}">
        <p14:creationId xmlns:p14="http://schemas.microsoft.com/office/powerpoint/2010/main" val="42167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AFDB61-AAF7-327C-F2F7-4871AF7EF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Laufzeit Auswertung einzelner Domains</a:t>
            </a:r>
          </a:p>
        </p:txBody>
      </p:sp>
      <p:pic>
        <p:nvPicPr>
          <p:cNvPr id="8" name="Inhaltsplatzhalter 7" descr="Ein Bild, das Text, Screenshot, Diagramm, Design enthält.&#10;&#10;Automatisch generierte Beschreibung">
            <a:extLst>
              <a:ext uri="{FF2B5EF4-FFF2-40B4-BE49-F238E27FC236}">
                <a16:creationId xmlns:a16="http://schemas.microsoft.com/office/drawing/2014/main" id="{D541D025-D196-69EC-7DEE-911FCE7122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242" y="1313444"/>
            <a:ext cx="7247996" cy="5179431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910EB207-9D62-72B9-A841-5B43A12F3540}"/>
                  </a:ext>
                </a:extLst>
              </p14:cNvPr>
              <p14:cNvContentPartPr/>
              <p14:nvPr/>
            </p14:nvContentPartPr>
            <p14:xfrm>
              <a:off x="3578113" y="3378868"/>
              <a:ext cx="328680" cy="250560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910EB207-9D62-72B9-A841-5B43A12F35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71993" y="3372748"/>
                <a:ext cx="34092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Freihand 11">
                <a:extLst>
                  <a:ext uri="{FF2B5EF4-FFF2-40B4-BE49-F238E27FC236}">
                    <a16:creationId xmlns:a16="http://schemas.microsoft.com/office/drawing/2014/main" id="{219B0A96-2954-5066-22A8-EA1144DFD21E}"/>
                  </a:ext>
                </a:extLst>
              </p14:cNvPr>
              <p14:cNvContentPartPr/>
              <p14:nvPr/>
            </p14:nvContentPartPr>
            <p14:xfrm>
              <a:off x="4288393" y="2720788"/>
              <a:ext cx="367560" cy="284760"/>
            </p14:xfrm>
          </p:contentPart>
        </mc:Choice>
        <mc:Fallback xmlns="">
          <p:pic>
            <p:nvPicPr>
              <p:cNvPr id="12" name="Freihand 11">
                <a:extLst>
                  <a:ext uri="{FF2B5EF4-FFF2-40B4-BE49-F238E27FC236}">
                    <a16:creationId xmlns:a16="http://schemas.microsoft.com/office/drawing/2014/main" id="{219B0A96-2954-5066-22A8-EA1144DFD21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82273" y="2714668"/>
                <a:ext cx="37980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260D58FF-D44E-21A7-2740-D695F0309BC7}"/>
                  </a:ext>
                </a:extLst>
              </p14:cNvPr>
              <p14:cNvContentPartPr/>
              <p14:nvPr/>
            </p14:nvContentPartPr>
            <p14:xfrm>
              <a:off x="2801815" y="1730025"/>
              <a:ext cx="331200" cy="204120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260D58FF-D44E-21A7-2740-D695F0309BC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95695" y="1723905"/>
                <a:ext cx="34344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" name="Freihand 16">
                <a:extLst>
                  <a:ext uri="{FF2B5EF4-FFF2-40B4-BE49-F238E27FC236}">
                    <a16:creationId xmlns:a16="http://schemas.microsoft.com/office/drawing/2014/main" id="{5A5EDD8A-3A6A-917A-B606-CCBA90D32973}"/>
                  </a:ext>
                </a:extLst>
              </p14:cNvPr>
              <p14:cNvContentPartPr/>
              <p14:nvPr/>
            </p14:nvContentPartPr>
            <p14:xfrm>
              <a:off x="7282015" y="1517985"/>
              <a:ext cx="333720" cy="185760"/>
            </p14:xfrm>
          </p:contentPart>
        </mc:Choice>
        <mc:Fallback xmlns="">
          <p:pic>
            <p:nvPicPr>
              <p:cNvPr id="17" name="Freihand 16">
                <a:extLst>
                  <a:ext uri="{FF2B5EF4-FFF2-40B4-BE49-F238E27FC236}">
                    <a16:creationId xmlns:a16="http://schemas.microsoft.com/office/drawing/2014/main" id="{5A5EDD8A-3A6A-917A-B606-CCBA90D3297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275895" y="1511865"/>
                <a:ext cx="345960" cy="19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2844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9AFC92-D23C-F067-B6AA-D7769E5A7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Auswertung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FFDC58-8542-2F93-E7A3-69180E10B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Clojure</a:t>
            </a:r>
            <a:r>
              <a:rPr lang="de-DE" dirty="0"/>
              <a:t> – </a:t>
            </a:r>
            <a:r>
              <a:rPr lang="de-DE" dirty="0" err="1"/>
              <a:t>scala</a:t>
            </a:r>
            <a:r>
              <a:rPr lang="de-DE" dirty="0"/>
              <a:t> </a:t>
            </a:r>
            <a:r>
              <a:rPr lang="de-DE" dirty="0" err="1"/>
              <a:t>library</a:t>
            </a:r>
            <a:r>
              <a:rPr lang="de-DE" dirty="0"/>
              <a:t> (bisschen überraschend, da </a:t>
            </a:r>
            <a:r>
              <a:rPr lang="de-DE" dirty="0" err="1"/>
              <a:t>scala</a:t>
            </a:r>
            <a:r>
              <a:rPr lang="de-DE" dirty="0"/>
              <a:t> 2mb größer)</a:t>
            </a:r>
          </a:p>
          <a:p>
            <a:r>
              <a:rPr lang="de-DE" dirty="0"/>
              <a:t>Commons-lang – </a:t>
            </a:r>
            <a:r>
              <a:rPr lang="de-DE" dirty="0" err="1"/>
              <a:t>kotlin-stdlib</a:t>
            </a:r>
            <a:r>
              <a:rPr lang="de-DE" dirty="0"/>
              <a:t> (ab und an gleich auf, </a:t>
            </a:r>
            <a:r>
              <a:rPr lang="de-DE" dirty="0" err="1"/>
              <a:t>PrimitiveTacaiDomain</a:t>
            </a:r>
            <a:r>
              <a:rPr lang="de-DE" dirty="0"/>
              <a:t>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03353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25F9ED-B13F-DD15-3428-959A69AB2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Anteil von Dead-Code-Instruktionen (Projekt)</a:t>
            </a:r>
          </a:p>
        </p:txBody>
      </p:sp>
      <p:pic>
        <p:nvPicPr>
          <p:cNvPr id="5" name="Inhaltsplatzhalter 4" descr="Ein Bild, das Text, Screenshot, Diagramm, Rechteck enthält.&#10;&#10;Automatisch generierte Beschreibung">
            <a:extLst>
              <a:ext uri="{FF2B5EF4-FFF2-40B4-BE49-F238E27FC236}">
                <a16:creationId xmlns:a16="http://schemas.microsoft.com/office/drawing/2014/main" id="{18E7C49E-2666-029C-0F81-5E8A4D6D43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54" y="1418936"/>
            <a:ext cx="4506493" cy="3608815"/>
          </a:xfrm>
        </p:spPr>
      </p:pic>
      <p:pic>
        <p:nvPicPr>
          <p:cNvPr id="9" name="Grafik 8" descr="Ein Bild, das Text, Screenshot, Diagramm, Rechteck enthält.&#10;&#10;Automatisch generierte Beschreibung">
            <a:extLst>
              <a:ext uri="{FF2B5EF4-FFF2-40B4-BE49-F238E27FC236}">
                <a16:creationId xmlns:a16="http://schemas.microsoft.com/office/drawing/2014/main" id="{67911540-6B45-047D-0F47-FD1B8BD870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3456" y="1358578"/>
            <a:ext cx="4638624" cy="3729529"/>
          </a:xfrm>
          <a:prstGeom prst="rect">
            <a:avLst/>
          </a:prstGeom>
        </p:spPr>
      </p:pic>
      <p:pic>
        <p:nvPicPr>
          <p:cNvPr id="7" name="Grafik 6" descr="Ein Bild, das Text, Screenshot, Diagramm, parallel enthält.&#10;&#10;Automatisch generierte Beschreibung">
            <a:extLst>
              <a:ext uri="{FF2B5EF4-FFF2-40B4-BE49-F238E27FC236}">
                <a16:creationId xmlns:a16="http://schemas.microsoft.com/office/drawing/2014/main" id="{B7EBECF9-435E-D43E-369F-07630D5D06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7355" y="1429796"/>
            <a:ext cx="4506493" cy="361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08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80209F-61DA-424F-3F78-361949EAE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Anteil von Dead-Code-Instruktionen (Domain)</a:t>
            </a:r>
          </a:p>
        </p:txBody>
      </p:sp>
      <p:pic>
        <p:nvPicPr>
          <p:cNvPr id="5" name="Inhaltsplatzhalter 4" descr="Ein Bild, das Text, Screenshot, Diagramm, parallel enthält.&#10;&#10;Automatisch generierte Beschreibung">
            <a:extLst>
              <a:ext uri="{FF2B5EF4-FFF2-40B4-BE49-F238E27FC236}">
                <a16:creationId xmlns:a16="http://schemas.microsoft.com/office/drawing/2014/main" id="{3F0F56F2-7204-924E-29FB-B7C5476768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6488"/>
            <a:ext cx="6657512" cy="4748491"/>
          </a:xfrm>
        </p:spPr>
      </p:pic>
      <p:pic>
        <p:nvPicPr>
          <p:cNvPr id="7" name="Grafik 6" descr="Ein Bild, das Text, Screenshot, Diagramm, parallel enthält.&#10;&#10;Automatisch generierte Beschreibung">
            <a:extLst>
              <a:ext uri="{FF2B5EF4-FFF2-40B4-BE49-F238E27FC236}">
                <a16:creationId xmlns:a16="http://schemas.microsoft.com/office/drawing/2014/main" id="{D924C86E-DEDC-47A5-1808-1103C21632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352" y="1331200"/>
            <a:ext cx="7064909" cy="5039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232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69D0B8-E759-9C99-2779-FF251E1FB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 err="1"/>
              <a:t>Instruktionenstypen</a:t>
            </a:r>
            <a:endParaRPr lang="de-DE" dirty="0"/>
          </a:p>
        </p:txBody>
      </p:sp>
      <p:pic>
        <p:nvPicPr>
          <p:cNvPr id="5" name="Inhaltsplatzhalter 4" descr="Ein Bild, das Diagramm, Text, Reihe, Steigung enthält.&#10;&#10;Automatisch generierte Beschreibung">
            <a:extLst>
              <a:ext uri="{FF2B5EF4-FFF2-40B4-BE49-F238E27FC236}">
                <a16:creationId xmlns:a16="http://schemas.microsoft.com/office/drawing/2014/main" id="{CB882630-09AB-DB04-AB80-A14AB7E1E5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51" y="1690688"/>
            <a:ext cx="6660964" cy="4403192"/>
          </a:xfrm>
        </p:spPr>
      </p:pic>
      <p:pic>
        <p:nvPicPr>
          <p:cNvPr id="7" name="Grafik 6" descr="Ein Bild, das Text, Diagramm, Reihe, Steigung enthält.&#10;&#10;Automatisch generierte Beschreibung">
            <a:extLst>
              <a:ext uri="{FF2B5EF4-FFF2-40B4-BE49-F238E27FC236}">
                <a16:creationId xmlns:a16="http://schemas.microsoft.com/office/drawing/2014/main" id="{E077F441-D88D-2ABF-9E0C-749324E480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9865" y="1690688"/>
            <a:ext cx="6660964" cy="441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095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6D1C37-A5A0-1B0F-533B-B6FE72C5C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 err="1"/>
              <a:t>Instruktionenstypen</a:t>
            </a:r>
            <a:endParaRPr lang="de-DE" dirty="0"/>
          </a:p>
        </p:txBody>
      </p:sp>
      <p:pic>
        <p:nvPicPr>
          <p:cNvPr id="5" name="Inhaltsplatzhalter 4" descr="Ein Bild, das Text, Diagramm, Reihe, Screenshot enthält.&#10;&#10;Automatisch generierte Beschreibung">
            <a:extLst>
              <a:ext uri="{FF2B5EF4-FFF2-40B4-BE49-F238E27FC236}">
                <a16:creationId xmlns:a16="http://schemas.microsoft.com/office/drawing/2014/main" id="{E5940434-D9B2-C721-F8E4-8F2C41C7C7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80" y="1805890"/>
            <a:ext cx="6582522" cy="4351338"/>
          </a:xfrm>
        </p:spPr>
      </p:pic>
      <p:pic>
        <p:nvPicPr>
          <p:cNvPr id="7" name="Grafik 6" descr="Ein Bild, das Text, Diagramm, Reihe, Screenshot enthält.&#10;&#10;Automatisch generierte Beschreibung">
            <a:extLst>
              <a:ext uri="{FF2B5EF4-FFF2-40B4-BE49-F238E27FC236}">
                <a16:creationId xmlns:a16="http://schemas.microsoft.com/office/drawing/2014/main" id="{AF39485C-6DEB-7441-91A2-AA377D71E9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686" y="1919328"/>
            <a:ext cx="6239314" cy="412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325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</Words>
  <Application>Microsoft Office PowerPoint</Application>
  <PresentationFormat>Breitbild</PresentationFormat>
  <Paragraphs>54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Symbol</vt:lpstr>
      <vt:lpstr>Office</vt:lpstr>
      <vt:lpstr>Statische Programmanalyse</vt:lpstr>
      <vt:lpstr>PowerPoint-Präsentation</vt:lpstr>
      <vt:lpstr>Theorie 4.1/ 4.2 – Eingabe </vt:lpstr>
      <vt:lpstr>Theorie 4.1/ 4.2 - Ausgabe</vt:lpstr>
      <vt:lpstr>Praxis 4.1/ 4.2 - Eingabe</vt:lpstr>
      <vt:lpstr>Praxis 4.1 – Ausgabe/ Einlesen des Reports</vt:lpstr>
      <vt:lpstr>PowerPoint-Präsentation</vt:lpstr>
      <vt:lpstr>Laufzeit Auswertung einzelner Projekte</vt:lpstr>
      <vt:lpstr>Anmerkungen</vt:lpstr>
      <vt:lpstr>Laufzeit Auswertung einzelner Domains</vt:lpstr>
      <vt:lpstr>Auswertung</vt:lpstr>
      <vt:lpstr>Anteil von Dead-Code-Instruktionen (Projekt)</vt:lpstr>
      <vt:lpstr>Anteil von Dead-Code-Instruktionen (Domain)</vt:lpstr>
      <vt:lpstr>Instruktionenstypen</vt:lpstr>
      <vt:lpstr>Instruktionenstypen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Roman Pauli</dc:creator>
  <cp:lastModifiedBy>Roman Pauli</cp:lastModifiedBy>
  <cp:revision>148</cp:revision>
  <dcterms:created xsi:type="dcterms:W3CDTF">2024-11-19T10:54:50Z</dcterms:created>
  <dcterms:modified xsi:type="dcterms:W3CDTF">2024-12-16T03:08:54Z</dcterms:modified>
</cp:coreProperties>
</file>
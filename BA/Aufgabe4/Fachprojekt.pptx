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9" r:id="rId4"/>
    <p:sldId id="275" r:id="rId5"/>
    <p:sldId id="287" r:id="rId6"/>
    <p:sldId id="260" r:id="rId7"/>
    <p:sldId id="261" r:id="rId8"/>
    <p:sldId id="262" r:id="rId9"/>
    <p:sldId id="263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6" r:id="rId20"/>
    <p:sldId id="285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CD39B7-3B95-490B-A2E4-AA9544078DCB}" v="18" dt="2024-11-19T14:41:51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1DA949-2789-EFA2-003E-F5EE80F9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64ED248-3952-8604-551A-7282A5319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CCFC75-26BA-5B2E-BE94-C2C0DC0B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02F1FB-5051-42DF-8D4F-969C5F2A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0A0CAB-0BF3-3545-E1AA-CBF74746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48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E2F40-2567-98A2-5BAB-E102345A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E00B41-1E9B-F03D-7B31-F028C2D2E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A1F9D7-E913-5DFA-DFDA-250509DC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30BAE7-5257-E45D-A36A-B80178EF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935A9B-9F60-A431-B2AF-DE3E9ACA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737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64BBC-065C-9A9C-B7F4-84E6939CD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8A69B-35BE-FD2A-DB42-A08888482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18565D-7067-BBCF-11A8-8256C0F04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B0D26B-20C6-12C6-DE57-584C5E4B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FB037C-0CCE-7F71-B93D-129B97D6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243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E2DF39-F363-9CCC-F05C-07EB58B3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9A159A-433D-1E8F-8C64-254975E02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977873-2646-6606-19B4-0A03FA8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6FC1B8-83B1-3FE4-F97E-666738513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7D71F7-B540-C272-08A2-B7F52A52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9F258B-6BE6-F1DD-551C-36334C57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62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065EA-DF40-7A31-8BF4-42E5467A9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70FAFE-1E65-24BF-D1C6-1208FB8D9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65D40A-BBE5-7E55-FA51-9F94011A2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A49BAD7-5131-6354-F48C-55020C4F7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F6FF88C-DF29-B34E-D83C-585334580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1EA6E7-7F59-C8F2-A9D5-8A88377C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67868A4-4DFC-2B98-2F0E-78D551E2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924337-55D9-F03C-EFDD-CBA4A63B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984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2DB27F-62FE-D409-B4DD-CA76C1E2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6909887-305C-F505-69D4-8CA21C91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9D493C-EC6F-ADF6-3BF0-D24B0DE07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3DAB5C-EADB-C67C-BDC4-B491A6A3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99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333770C-4660-B035-C7E8-93B34B456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E75D284-C250-3826-373A-C2C6069E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847534-22CF-B267-61BB-F8D52824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64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7699ED-2334-3EC2-622C-14FF7D3C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5D2569-E18A-9EC4-779D-AC1357A4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25284F-F394-C9CE-968A-8E85B5AE5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02706D-3AA9-89BB-0AEF-7B39D0B4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626439-89FB-CC65-AFF5-015DE2FD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C3744F-7698-E09D-4970-57D7261EC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39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F156-B022-9A6C-6507-C099DAFD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E1877B9-FA13-2795-5814-07788BD43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F1B34C-142B-4443-C1E0-47F9662A4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7585C3-A65A-6C1A-5A6B-C5139EB9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A74665-4C9D-47D7-A573-501D4C62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4D99F1-426A-6792-C652-D8F66D19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752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BCDE31-5DD5-289E-8400-685C1219E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235A87B-D971-90D2-B042-0C22F6E4F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9A98EF-E876-598B-9F5E-33330D88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E5CDB3-E8E7-22A9-68D2-CAD3192E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2CC790-1AF5-72F6-14AB-5530CB5E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4131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2D94AD5-D270-23CD-F345-FD91E86BF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F71696D-C08B-75C7-E360-E9E43B34A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6098CC-F542-A4E5-A435-0269757C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672E5E-020D-B6FB-A689-D7BEF18A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B2AB62-D056-B560-1E1D-A1A6E3218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27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F6C810A-B2C1-30BD-0C5B-AEE025412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A10AEE-B0E0-ED7A-9409-5DC5E0C96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AA6C68-319E-AC2E-DD67-A32D654DB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C945F-2F76-456A-B408-969CF56795F1}" type="datetimeFigureOut">
              <a:rPr lang="de-DE" smtClean="0"/>
              <a:t>03.12.2024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8285F4-7947-0DE6-DF75-E48B19BCB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0B9D1-1C99-994E-78C2-F30F5EA88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19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2C7E7-E257-4EBC-9658-D49A5CC2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de-DE" sz="5200" dirty="0">
                <a:solidFill>
                  <a:schemeClr val="tx2"/>
                </a:solidFill>
              </a:rPr>
              <a:t>Statische Programmanalyse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3BDAA2-ECB1-47E0-B3BE-F955A58A2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Manipulation von Bytecode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166F447-08C2-575D-4845-A391A32A58A6}"/>
              </a:ext>
            </a:extLst>
          </p:cNvPr>
          <p:cNvSpPr txBox="1"/>
          <p:nvPr/>
        </p:nvSpPr>
        <p:spPr>
          <a:xfrm>
            <a:off x="8534400" y="4886960"/>
            <a:ext cx="2956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cs typeface="Calibri"/>
              </a:rPr>
              <a:t>Gruppe 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91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683A9D-BFF3-95A1-4B2D-B941E67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1813"/>
            <a:ext cx="10515600" cy="5815150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Aufgabe 4.1 - Bytecode Modifizieren</a:t>
            </a:r>
          </a:p>
        </p:txBody>
      </p:sp>
    </p:spTree>
    <p:extLst>
      <p:ext uri="{BB962C8B-B14F-4D97-AF65-F5344CB8AC3E}">
        <p14:creationId xmlns:p14="http://schemas.microsoft.com/office/powerpoint/2010/main" val="1471978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540ED9-CD24-3C95-8844-60CB3EDA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Theorie 4.1 – Konfigurierbarkeit (inkl. </a:t>
            </a:r>
            <a:r>
              <a:rPr lang="de-DE" dirty="0" err="1"/>
              <a:t>Paths</a:t>
            </a:r>
            <a:r>
              <a:rPr lang="de-DE" dirty="0"/>
              <a:t>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D7FA5F1-41C6-4914-F879-3B11D75D0648}"/>
              </a:ext>
            </a:extLst>
          </p:cNvPr>
          <p:cNvSpPr txBox="1"/>
          <p:nvPr/>
        </p:nvSpPr>
        <p:spPr>
          <a:xfrm>
            <a:off x="486802" y="1947211"/>
            <a:ext cx="111175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Kommandozeilenparameter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Alle Projekte in einem Verzeichnis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Textdokument für die zu suchenden Methoden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Output der .</a:t>
            </a:r>
            <a:r>
              <a:rPr lang="de-DE" sz="2800" dirty="0" err="1"/>
              <a:t>class</a:t>
            </a:r>
            <a:r>
              <a:rPr lang="de-DE" sz="2800" dirty="0"/>
              <a:t> Dateien in einen eigenen Ordner (nicht wie Projekt aufgebaut)</a:t>
            </a:r>
          </a:p>
        </p:txBody>
      </p:sp>
    </p:spTree>
    <p:extLst>
      <p:ext uri="{BB962C8B-B14F-4D97-AF65-F5344CB8AC3E}">
        <p14:creationId xmlns:p14="http://schemas.microsoft.com/office/powerpoint/2010/main" val="88370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B51FFF-0EFA-7C04-8227-38F1742C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Theorie 4.1 – Vorgehen?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1B7F9B-912A-5B4B-2F7E-2599EC221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Kommandozeilenparameter einlesen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Zu suchende Methoden einlesen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Methoden erkennen, die mindestens eine der kritischen nutzen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Anschließend bei allen Klassen, welche Methoden aus Schritt 3. haben, die Instruktionen, die kritische Methoden nutzen, „entschärfen“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Methode, die es nicht gibt (Naja offensichtlich nicht)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Dummy-Methoden erstellen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 err="1"/>
              <a:t>Invoke</a:t>
            </a:r>
            <a:r>
              <a:rPr lang="de-DE" dirty="0"/>
              <a:t> löschen und Stack anpassen (verbrauchen, hinzufügen, anpassen)</a:t>
            </a:r>
          </a:p>
          <a:p>
            <a:pPr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5494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A661A7-5A7F-996F-C491-0EFB66D1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Wofür haben wir uns entschieden?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FB982D-58D5-E6D3-4306-0D09DEC0B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Genau genommen alle, aber:</a:t>
            </a:r>
          </a:p>
          <a:p>
            <a:pPr lvl="1"/>
            <a:r>
              <a:rPr lang="de-DE" dirty="0" err="1"/>
              <a:t>NullPointerExceptions</a:t>
            </a:r>
            <a:endParaRPr lang="de-DE" dirty="0"/>
          </a:p>
          <a:p>
            <a:pPr lvl="1"/>
            <a:r>
              <a:rPr lang="de-DE" dirty="0"/>
              <a:t>Stack falsch behandelt</a:t>
            </a:r>
          </a:p>
          <a:p>
            <a:pPr lvl="1"/>
            <a:r>
              <a:rPr lang="de-DE" dirty="0"/>
              <a:t>Eigentlich garantieren, dass .</a:t>
            </a:r>
            <a:r>
              <a:rPr lang="de-DE" dirty="0" err="1"/>
              <a:t>jar</a:t>
            </a:r>
            <a:r>
              <a:rPr lang="de-DE" dirty="0"/>
              <a:t> noch funktioniert (auch, wenn eigentliche Aufgabe nicht unbedingt erfüllt werden kann)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de-DE" dirty="0"/>
              <a:t>Dummy (Ergebnis ist ok)</a:t>
            </a:r>
          </a:p>
        </p:txBody>
      </p:sp>
    </p:spTree>
    <p:extLst>
      <p:ext uri="{BB962C8B-B14F-4D97-AF65-F5344CB8AC3E}">
        <p14:creationId xmlns:p14="http://schemas.microsoft.com/office/powerpoint/2010/main" val="3620582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97B8C-4872-E709-D9CC-8767D3348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4.1 – Kommandozeilenparameter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AF7E46-E065-EEEA-D6F3-657A16EA8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/>
              <a:t>file=untitled.jar il=false cg=XTA</a:t>
            </a:r>
          </a:p>
          <a:p>
            <a:pPr lvl="1"/>
            <a:r>
              <a:rPr lang="de-DE" dirty="0" err="1"/>
              <a:t>file</a:t>
            </a:r>
            <a:r>
              <a:rPr lang="de-DE" dirty="0"/>
              <a:t>={Name der Datei}.jar =&gt; Das Projekt</a:t>
            </a:r>
          </a:p>
          <a:p>
            <a:pPr lvl="1"/>
            <a:r>
              <a:rPr lang="de-DE" dirty="0" err="1"/>
              <a:t>cg</a:t>
            </a:r>
            <a:r>
              <a:rPr lang="de-DE" dirty="0"/>
              <a:t>= zu nutzender Algorithmus (CHA, RTA, XTA)</a:t>
            </a:r>
          </a:p>
          <a:p>
            <a:pPr lvl="1"/>
            <a:r>
              <a:rPr lang="de-DE" dirty="0"/>
              <a:t>il= gibt an, ob es eine Library ist oder nicht</a:t>
            </a:r>
          </a:p>
          <a:p>
            <a:pPr marL="457200" lvl="1" indent="0">
              <a:buNone/>
            </a:pP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CEA6774-7304-5D72-8DAD-8A342B371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262" y="3563144"/>
            <a:ext cx="7296150" cy="8763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D39E765-8277-99CE-278D-0D5D223E2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262" y="4801481"/>
            <a:ext cx="72961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5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D6BE1-AC41-8F09-28CD-97621FDB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4.1 – task4_1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BD0E2A-9963-29B8-5CE8-E26B52CD5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Stellt main-Methode (inkl. Kommandozeilenparametern)</a:t>
            </a:r>
          </a:p>
          <a:p>
            <a:r>
              <a:rPr lang="de-DE" dirty="0" err="1"/>
              <a:t>readFile</a:t>
            </a:r>
            <a:r>
              <a:rPr lang="de-DE" dirty="0"/>
              <a:t>() -&gt; liest die zu suchenden Methoden aus</a:t>
            </a:r>
          </a:p>
          <a:p>
            <a:r>
              <a:rPr lang="de-DE" dirty="0"/>
              <a:t>Projekt und </a:t>
            </a:r>
            <a:r>
              <a:rPr lang="de-DE" dirty="0" err="1"/>
              <a:t>CallGraph</a:t>
            </a:r>
            <a:r>
              <a:rPr lang="de-DE" dirty="0"/>
              <a:t> erstellen</a:t>
            </a:r>
          </a:p>
          <a:p>
            <a:r>
              <a:rPr lang="de-DE" dirty="0" err="1"/>
              <a:t>findCallers</a:t>
            </a:r>
            <a:r>
              <a:rPr lang="de-DE" dirty="0"/>
              <a:t>(</a:t>
            </a:r>
            <a:r>
              <a:rPr lang="de-DE" dirty="0" err="1"/>
              <a:t>callGraph</a:t>
            </a:r>
            <a:r>
              <a:rPr lang="de-DE" dirty="0"/>
              <a:t>) -&gt; </a:t>
            </a:r>
          </a:p>
          <a:p>
            <a:pPr lvl="1"/>
            <a:r>
              <a:rPr lang="de-DE" dirty="0"/>
              <a:t>Gehe durch alle </a:t>
            </a:r>
            <a:r>
              <a:rPr lang="de-DE" dirty="0" err="1"/>
              <a:t>ReachableMethods</a:t>
            </a:r>
            <a:endParaRPr lang="de-DE" dirty="0"/>
          </a:p>
          <a:p>
            <a:pPr lvl="1"/>
            <a:r>
              <a:rPr lang="de-DE" dirty="0"/>
              <a:t>Ist es eine der gesuchten?</a:t>
            </a:r>
          </a:p>
          <a:p>
            <a:pPr lvl="2"/>
            <a:r>
              <a:rPr lang="de-DE" dirty="0"/>
              <a:t>Ja, speichern in </a:t>
            </a:r>
            <a:r>
              <a:rPr lang="de-DE" dirty="0" err="1"/>
              <a:t>foundCallees</a:t>
            </a:r>
            <a:endParaRPr lang="de-DE" dirty="0"/>
          </a:p>
          <a:p>
            <a:pPr lvl="2"/>
            <a:r>
              <a:rPr lang="de-DE" dirty="0"/>
              <a:t>Nein, gehe weiter</a:t>
            </a:r>
          </a:p>
          <a:p>
            <a:r>
              <a:rPr lang="de-DE" dirty="0"/>
              <a:t>Erstelle </a:t>
            </a:r>
            <a:r>
              <a:rPr lang="de-DE" dirty="0" err="1"/>
              <a:t>ModifyClasses</a:t>
            </a:r>
            <a:r>
              <a:rPr lang="de-DE" dirty="0"/>
              <a:t>(</a:t>
            </a:r>
            <a:r>
              <a:rPr lang="de-DE" dirty="0" err="1"/>
              <a:t>foundCallees</a:t>
            </a:r>
            <a:r>
              <a:rPr lang="de-DE" dirty="0"/>
              <a:t>, </a:t>
            </a:r>
            <a:r>
              <a:rPr lang="de-DE" dirty="0" err="1"/>
              <a:t>searchFor</a:t>
            </a:r>
            <a:r>
              <a:rPr lang="de-DE" dirty="0"/>
              <a:t>)</a:t>
            </a:r>
          </a:p>
          <a:p>
            <a:r>
              <a:rPr lang="de-DE" dirty="0"/>
              <a:t>Iteriere durch alle Projekte Klassen</a:t>
            </a:r>
          </a:p>
          <a:p>
            <a:pPr lvl="1"/>
            <a:r>
              <a:rPr lang="de-DE" dirty="0"/>
              <a:t>Hat einen </a:t>
            </a:r>
            <a:r>
              <a:rPr lang="de-DE" dirty="0" err="1"/>
              <a:t>foundCallee</a:t>
            </a:r>
            <a:r>
              <a:rPr lang="de-DE" dirty="0"/>
              <a:t>?</a:t>
            </a:r>
          </a:p>
          <a:p>
            <a:pPr lvl="2"/>
            <a:r>
              <a:rPr lang="de-DE" dirty="0"/>
              <a:t>Ja, erstelle neue Datei -&gt; </a:t>
            </a:r>
            <a:r>
              <a:rPr lang="de-DE" dirty="0" err="1"/>
              <a:t>ModifyClasses.modifyClass</a:t>
            </a:r>
            <a:r>
              <a:rPr lang="de-DE" dirty="0"/>
              <a:t>(</a:t>
            </a:r>
            <a:r>
              <a:rPr lang="de-DE" dirty="0" err="1"/>
              <a:t>ClassFiles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Nein, gehe weiter</a:t>
            </a:r>
          </a:p>
        </p:txBody>
      </p:sp>
    </p:spTree>
    <p:extLst>
      <p:ext uri="{BB962C8B-B14F-4D97-AF65-F5344CB8AC3E}">
        <p14:creationId xmlns:p14="http://schemas.microsoft.com/office/powerpoint/2010/main" val="3801619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A83D4-C69D-3831-4E6A-66690070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4.1 – </a:t>
            </a:r>
            <a:r>
              <a:rPr lang="de-DE" dirty="0" err="1"/>
              <a:t>ModifyClasses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A9270C-E6BB-C101-CD89-DFB20A994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 err="1"/>
              <a:t>modifyCode</a:t>
            </a:r>
            <a:r>
              <a:rPr lang="de-DE" dirty="0"/>
              <a:t> -&gt; erstellt neue </a:t>
            </a:r>
            <a:r>
              <a:rPr lang="de-DE" dirty="0" err="1"/>
              <a:t>ClassFile</a:t>
            </a:r>
            <a:endParaRPr lang="de-DE" dirty="0"/>
          </a:p>
          <a:p>
            <a:pPr lvl="1"/>
            <a:r>
              <a:rPr lang="de-DE" dirty="0"/>
              <a:t>Gehe durch jede Methode</a:t>
            </a:r>
          </a:p>
          <a:p>
            <a:pPr lvl="2"/>
            <a:r>
              <a:rPr lang="de-DE" dirty="0"/>
              <a:t>Ist in </a:t>
            </a:r>
            <a:r>
              <a:rPr lang="de-DE" dirty="0" err="1"/>
              <a:t>foundCallee</a:t>
            </a:r>
            <a:r>
              <a:rPr lang="de-DE" dirty="0"/>
              <a:t>?</a:t>
            </a:r>
          </a:p>
          <a:p>
            <a:pPr lvl="3"/>
            <a:r>
              <a:rPr lang="de-DE" dirty="0"/>
              <a:t>Ja, </a:t>
            </a:r>
            <a:r>
              <a:rPr lang="de-DE" dirty="0" err="1"/>
              <a:t>buildNewInstructionArray</a:t>
            </a:r>
            <a:r>
              <a:rPr lang="de-DE" dirty="0"/>
              <a:t>(</a:t>
            </a:r>
            <a:r>
              <a:rPr lang="de-DE" dirty="0" err="1"/>
              <a:t>methoden.instructionen</a:t>
            </a:r>
            <a:r>
              <a:rPr lang="de-DE" dirty="0"/>
              <a:t>, </a:t>
            </a:r>
            <a:r>
              <a:rPr lang="de-DE" dirty="0" err="1"/>
              <a:t>classFile</a:t>
            </a:r>
            <a:r>
              <a:rPr lang="de-DE" dirty="0"/>
              <a:t>)</a:t>
            </a:r>
          </a:p>
          <a:p>
            <a:pPr lvl="3"/>
            <a:r>
              <a:rPr lang="de-DE" dirty="0"/>
              <a:t>Nein, kopiere einfach den ganzen Code</a:t>
            </a:r>
          </a:p>
          <a:p>
            <a:pPr lvl="1"/>
            <a:r>
              <a:rPr lang="de-DE" dirty="0"/>
              <a:t>Erstelle neue </a:t>
            </a:r>
            <a:r>
              <a:rPr lang="de-DE" dirty="0" err="1"/>
              <a:t>ClassFile</a:t>
            </a:r>
            <a:r>
              <a:rPr lang="de-DE" dirty="0"/>
              <a:t> mit angepassten Methoden</a:t>
            </a:r>
          </a:p>
          <a:p>
            <a:r>
              <a:rPr lang="de-DE" dirty="0" err="1"/>
              <a:t>buildNewInstructionArrayFrom</a:t>
            </a:r>
            <a:r>
              <a:rPr lang="de-DE" dirty="0"/>
              <a:t> -&gt; Output der Instruktionen und erkennt, welche INVOKE-Aktion es ist</a:t>
            </a:r>
          </a:p>
          <a:p>
            <a:pPr lvl="1"/>
            <a:r>
              <a:rPr lang="de-DE" dirty="0"/>
              <a:t>Ist INVOKE?</a:t>
            </a:r>
          </a:p>
          <a:p>
            <a:pPr lvl="2"/>
            <a:r>
              <a:rPr lang="de-DE" dirty="0"/>
              <a:t>Ja, </a:t>
            </a:r>
            <a:r>
              <a:rPr lang="de-DE" dirty="0" err="1"/>
              <a:t>testForSearchedMethod</a:t>
            </a:r>
            <a:r>
              <a:rPr lang="de-DE" dirty="0"/>
              <a:t>(</a:t>
            </a:r>
            <a:r>
              <a:rPr lang="de-DE" dirty="0" err="1"/>
              <a:t>instr</a:t>
            </a:r>
            <a:r>
              <a:rPr lang="de-DE" dirty="0"/>
              <a:t>, </a:t>
            </a:r>
            <a:r>
              <a:rPr lang="de-DE" dirty="0" err="1"/>
              <a:t>classFile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Nein, einfach kopieren</a:t>
            </a:r>
          </a:p>
          <a:p>
            <a:r>
              <a:rPr lang="de-DE" dirty="0" err="1"/>
              <a:t>testForSearchedMethod</a:t>
            </a:r>
            <a:r>
              <a:rPr lang="de-DE" dirty="0"/>
              <a:t> -&gt; Überprüft, ob eine </a:t>
            </a:r>
            <a:r>
              <a:rPr lang="de-DE" dirty="0" err="1"/>
              <a:t>searchedFor</a:t>
            </a:r>
            <a:r>
              <a:rPr lang="de-DE" dirty="0"/>
              <a:t>-Methode aufgerufen wird</a:t>
            </a:r>
          </a:p>
          <a:p>
            <a:pPr lvl="1"/>
            <a:r>
              <a:rPr lang="de-DE" dirty="0"/>
              <a:t>Ist eine der gesuchten?</a:t>
            </a:r>
          </a:p>
          <a:p>
            <a:pPr lvl="2"/>
            <a:r>
              <a:rPr lang="de-DE" dirty="0"/>
              <a:t>Dummy erstellen</a:t>
            </a:r>
          </a:p>
          <a:p>
            <a:pPr lvl="2"/>
            <a:r>
              <a:rPr lang="de-DE" dirty="0"/>
              <a:t>Nein -&gt; gibt einfach die Instruktion wieder zurück</a:t>
            </a:r>
          </a:p>
        </p:txBody>
      </p:sp>
    </p:spTree>
    <p:extLst>
      <p:ext uri="{BB962C8B-B14F-4D97-AF65-F5344CB8AC3E}">
        <p14:creationId xmlns:p14="http://schemas.microsoft.com/office/powerpoint/2010/main" val="34208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A1B7F5-1F46-BE6F-9275-144260DE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4.1 – Ausgabe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5CCE25-5FD3-5041-EBF2-004E9D9A0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Instruktionen für Methoden, die eine der gesuchten Methoden nutzen, werden laufend ausgegeben.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de-DE" dirty="0"/>
              <a:t>Ebenfalls im Textdokument ./4_1/Instruktionen.txt einsehbar</a:t>
            </a:r>
          </a:p>
          <a:p>
            <a:r>
              <a:rPr lang="de-DE" dirty="0"/>
              <a:t>Modifizierte .</a:t>
            </a:r>
            <a:r>
              <a:rPr lang="de-DE" dirty="0" err="1"/>
              <a:t>class</a:t>
            </a:r>
            <a:r>
              <a:rPr lang="de-DE" dirty="0"/>
              <a:t> Dateien sind im ./4_1/Output zu finden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806C8EC-8741-2353-1718-0F67ABA32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29" y="3846074"/>
            <a:ext cx="109918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76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DF8B64-B905-BCD7-DA33-67EFA3E9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Stack-Layouts - Aufruf-Instruktionen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8382B3-7C53-FB9F-8C79-1B26E0086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INVOKESTATIC:</a:t>
            </a:r>
          </a:p>
          <a:p>
            <a:pPr lvl="1"/>
            <a:r>
              <a:rPr lang="de-DE" dirty="0"/>
              <a:t>Parameter =&gt; vom Stack</a:t>
            </a:r>
          </a:p>
          <a:p>
            <a:pPr lvl="1"/>
            <a:r>
              <a:rPr lang="de-DE" dirty="0"/>
              <a:t>Return =&gt; Auf Stack</a:t>
            </a:r>
          </a:p>
          <a:p>
            <a:pPr lvl="1"/>
            <a:r>
              <a:rPr lang="de-DE" dirty="0"/>
              <a:t>Kein Objekt .</a:t>
            </a:r>
            <a:r>
              <a:rPr lang="de-DE" dirty="0" err="1"/>
              <a:t>this</a:t>
            </a:r>
            <a:r>
              <a:rPr lang="de-DE" dirty="0"/>
              <a:t> vom Stack</a:t>
            </a:r>
          </a:p>
          <a:p>
            <a:r>
              <a:rPr lang="de-DE" dirty="0"/>
              <a:t>INVOKEDYNAMIC/ INVOKEVIRTUAL / INVOKESPECIAL :</a:t>
            </a:r>
          </a:p>
          <a:p>
            <a:pPr lvl="1"/>
            <a:r>
              <a:rPr lang="de-DE" dirty="0"/>
              <a:t>Parameter =&gt; vom Stack</a:t>
            </a:r>
          </a:p>
          <a:p>
            <a:pPr lvl="1"/>
            <a:r>
              <a:rPr lang="de-DE" dirty="0"/>
              <a:t>Return =&gt; Auf Stack</a:t>
            </a:r>
          </a:p>
          <a:p>
            <a:pPr lvl="1"/>
            <a:r>
              <a:rPr lang="de-DE" dirty="0"/>
              <a:t>Objekt .</a:t>
            </a:r>
            <a:r>
              <a:rPr lang="de-DE" dirty="0" err="1"/>
              <a:t>this</a:t>
            </a:r>
            <a:r>
              <a:rPr lang="de-DE" dirty="0"/>
              <a:t> vom Stack (bei Special offensichtlich erstellt)</a:t>
            </a:r>
          </a:p>
        </p:txBody>
      </p:sp>
    </p:spTree>
    <p:extLst>
      <p:ext uri="{BB962C8B-B14F-4D97-AF65-F5344CB8AC3E}">
        <p14:creationId xmlns:p14="http://schemas.microsoft.com/office/powerpoint/2010/main" val="121984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8727AE-4D4B-B7CB-19C0-AE303738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Unser Umgang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2DC135-79CA-1BCF-9CCF-E4E5661D7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Dummy für jede Methode </a:t>
            </a:r>
          </a:p>
          <a:p>
            <a:pPr lvl="1"/>
            <a:r>
              <a:rPr lang="de-DE" dirty="0"/>
              <a:t>Bei uns leider Fehlerhaft, da immer nur von der ausführenden Klasse ausgegangen wird</a:t>
            </a:r>
          </a:p>
          <a:p>
            <a:pPr lvl="2"/>
            <a:r>
              <a:rPr lang="de-DE" dirty="0"/>
              <a:t>Wenn in der Klasse selbst -&gt; Kein Problem</a:t>
            </a:r>
          </a:p>
          <a:p>
            <a:pPr lvl="2"/>
            <a:r>
              <a:rPr lang="de-DE" dirty="0"/>
              <a:t>Wenn in einer anderen Klasse -&gt; Problem, da nicht dort erstellt</a:t>
            </a:r>
          </a:p>
          <a:p>
            <a:r>
              <a:rPr lang="de-DE" dirty="0"/>
              <a:t>Theoretische „beste“ Lösung:</a:t>
            </a:r>
          </a:p>
          <a:p>
            <a:pPr lvl="1"/>
            <a:r>
              <a:rPr lang="de-DE" dirty="0"/>
              <a:t>INVOKE löschen</a:t>
            </a:r>
          </a:p>
          <a:p>
            <a:pPr lvl="1"/>
            <a:r>
              <a:rPr lang="de-DE" dirty="0"/>
              <a:t>Instruktionen so anpassen, dass Durchlauf weitestgehend fehlerfrei durchlaufen kann</a:t>
            </a:r>
          </a:p>
        </p:txBody>
      </p:sp>
    </p:spTree>
    <p:extLst>
      <p:ext uri="{BB962C8B-B14F-4D97-AF65-F5344CB8AC3E}">
        <p14:creationId xmlns:p14="http://schemas.microsoft.com/office/powerpoint/2010/main" val="40337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3AE329-5AD6-DDA6-DC3D-049B57FCF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0754"/>
            <a:ext cx="10515600" cy="5736209"/>
          </a:xfrm>
        </p:spPr>
        <p:txBody>
          <a:bodyPr numCol="1" anchor="ctr"/>
          <a:lstStyle/>
          <a:p>
            <a:pPr marL="0" indent="0" algn="ctr">
              <a:buNone/>
            </a:pPr>
            <a:r>
              <a:rPr lang="de-DE" dirty="0"/>
              <a:t>Aufgabe 4.2 - Bytecode Erstellen</a:t>
            </a:r>
          </a:p>
        </p:txBody>
      </p:sp>
    </p:spTree>
    <p:extLst>
      <p:ext uri="{BB962C8B-B14F-4D97-AF65-F5344CB8AC3E}">
        <p14:creationId xmlns:p14="http://schemas.microsoft.com/office/powerpoint/2010/main" val="425934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B37129-8C07-7B33-4BAC-98C8B24C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Theorie 4.2 - Konfigurierbarkeit (inkl. </a:t>
            </a:r>
            <a:r>
              <a:rPr lang="de-DE" dirty="0" err="1"/>
              <a:t>Paths</a:t>
            </a:r>
            <a:r>
              <a:rPr lang="de-DE" dirty="0"/>
              <a:t>)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0837CD-723C-F570-E506-2C9496F3E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Kommandozeilenparameter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Alle Projekte in einem Verzeichnis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Alle Libraries in einem Verzeichnis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Output der .</a:t>
            </a:r>
            <a:r>
              <a:rPr lang="de-DE" sz="2800" dirty="0" err="1"/>
              <a:t>class</a:t>
            </a:r>
            <a:r>
              <a:rPr lang="de-DE" sz="2800" dirty="0"/>
              <a:t> Dateien in einen eigenen Ordner (nicht wie Projekt aufgebaut)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0930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999648-331A-1E48-C02B-F1D0886C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Theorie 4.2 – Vorgehen?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DCF59A-3F80-F0FD-535A-59261FDFA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Kommandozeilenparameter einlesen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Schauen, welche Methoden der Library genutzt werden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Body der Methoden der Library „leeren“ und nur einen gültigen </a:t>
            </a:r>
            <a:r>
              <a:rPr lang="de-DE" dirty="0" err="1"/>
              <a:t>return</a:t>
            </a:r>
            <a:r>
              <a:rPr lang="de-DE" dirty="0"/>
              <a:t> einbauen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.</a:t>
            </a:r>
            <a:r>
              <a:rPr lang="de-DE" dirty="0" err="1"/>
              <a:t>class</a:t>
            </a:r>
            <a:r>
              <a:rPr lang="de-DE" dirty="0"/>
              <a:t> erstellen und ausgeben</a:t>
            </a:r>
          </a:p>
        </p:txBody>
      </p:sp>
    </p:spTree>
    <p:extLst>
      <p:ext uri="{BB962C8B-B14F-4D97-AF65-F5344CB8AC3E}">
        <p14:creationId xmlns:p14="http://schemas.microsoft.com/office/powerpoint/2010/main" val="2487982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BFBA7-572C-950A-A41D-F0F435D2E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A94FB-1304-7781-C28F-785B48B3E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4.2 – Kommandozeilenparameter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97BC22-0C58-7B49-1705-BCCCE2DAA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/>
              <a:t>file=commons-collections4-4.5.0-M2.jar il=</a:t>
            </a:r>
            <a:r>
              <a:rPr lang="it-IT" dirty="0" err="1"/>
              <a:t>true</a:t>
            </a:r>
            <a:r>
              <a:rPr lang="it-IT" dirty="0"/>
              <a:t> cg=XTA dp=commons-lang3-3.14.0.jar</a:t>
            </a:r>
          </a:p>
          <a:p>
            <a:pPr lvl="1"/>
            <a:r>
              <a:rPr lang="de-DE" dirty="0" err="1"/>
              <a:t>file</a:t>
            </a:r>
            <a:r>
              <a:rPr lang="de-DE" dirty="0"/>
              <a:t>={Name der Datei}.jar =&gt; Das Projekt</a:t>
            </a:r>
          </a:p>
          <a:p>
            <a:pPr lvl="1"/>
            <a:r>
              <a:rPr lang="de-DE" dirty="0" err="1"/>
              <a:t>cg</a:t>
            </a:r>
            <a:r>
              <a:rPr lang="de-DE" dirty="0"/>
              <a:t>= zu nutzender Algorithmus (CHA, RTA, XTA)</a:t>
            </a:r>
          </a:p>
          <a:p>
            <a:pPr lvl="1"/>
            <a:r>
              <a:rPr lang="de-DE" dirty="0"/>
              <a:t>il= gibt an, ob es eine Library ist oder nicht</a:t>
            </a:r>
          </a:p>
          <a:p>
            <a:pPr lvl="1"/>
            <a:r>
              <a:rPr lang="de-DE" dirty="0" err="1"/>
              <a:t>Dp</a:t>
            </a:r>
            <a:r>
              <a:rPr lang="de-DE" dirty="0"/>
              <a:t>= ={Name der Datei}.jar =&gt; Die Library</a:t>
            </a:r>
          </a:p>
          <a:p>
            <a:pPr marL="457200" lvl="1" indent="0">
              <a:buNone/>
            </a:pP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460054F-C100-9A05-5DE9-1BFE7A0DA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650" y="4236595"/>
            <a:ext cx="7324725" cy="14954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870A92F-0035-C9EF-8402-AF401D13F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650" y="5949950"/>
            <a:ext cx="635317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9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4D0D3A-1C5A-B6F7-3DEF-BB395960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4.2 – task4_2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2EEDA8-C18F-DCD9-F8D3-C786417FF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Stellt main-Methode (inkl. Kommandozeilenparametern)</a:t>
            </a:r>
          </a:p>
          <a:p>
            <a:r>
              <a:rPr lang="de-DE" dirty="0"/>
              <a:t>Projekt, Library und </a:t>
            </a:r>
            <a:r>
              <a:rPr lang="de-DE" dirty="0" err="1"/>
              <a:t>CallGraph</a:t>
            </a:r>
            <a:r>
              <a:rPr lang="de-DE" dirty="0"/>
              <a:t> erstellen</a:t>
            </a:r>
          </a:p>
          <a:p>
            <a:r>
              <a:rPr lang="de-DE" dirty="0" err="1"/>
              <a:t>calculateUsedMethodsFromLibrary</a:t>
            </a:r>
            <a:r>
              <a:rPr lang="de-DE" dirty="0"/>
              <a:t>(</a:t>
            </a:r>
            <a:r>
              <a:rPr lang="de-DE" dirty="0" err="1"/>
              <a:t>callGraph</a:t>
            </a:r>
            <a:r>
              <a:rPr lang="de-DE" dirty="0"/>
              <a:t>, </a:t>
            </a:r>
            <a:r>
              <a:rPr lang="de-DE" dirty="0" err="1"/>
              <a:t>library_project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Schaut einfach nur, welche Methoden der Library genutzt werden</a:t>
            </a:r>
          </a:p>
          <a:p>
            <a:r>
              <a:rPr lang="de-DE" dirty="0"/>
              <a:t>Für jede Klasse der Library in der Methoden genutzt werden, wird eine neue .</a:t>
            </a:r>
            <a:r>
              <a:rPr lang="de-DE" dirty="0" err="1"/>
              <a:t>class</a:t>
            </a:r>
            <a:r>
              <a:rPr lang="de-DE" dirty="0"/>
              <a:t> erstellt -&gt; </a:t>
            </a:r>
            <a:r>
              <a:rPr lang="de-DE" dirty="0" err="1"/>
              <a:t>CreateClasses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63462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E2A489-114A-54DE-6DC9-30D7010E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4.2 - </a:t>
            </a:r>
            <a:r>
              <a:rPr lang="de-DE" dirty="0" err="1"/>
              <a:t>CreateClasses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A80605-F66B-48CF-D19A-8E11C2A3E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createCode</a:t>
            </a:r>
            <a:r>
              <a:rPr lang="de-DE" dirty="0"/>
              <a:t> -&gt; enthält nur die bereits genutzten Methoden</a:t>
            </a:r>
          </a:p>
          <a:p>
            <a:pPr lvl="1"/>
            <a:r>
              <a:rPr lang="de-DE" dirty="0"/>
              <a:t>Analyse des </a:t>
            </a:r>
            <a:r>
              <a:rPr lang="de-DE" dirty="0" err="1"/>
              <a:t>ReturnTypes</a:t>
            </a:r>
            <a:r>
              <a:rPr lang="de-DE" dirty="0"/>
              <a:t> (</a:t>
            </a:r>
            <a:r>
              <a:rPr lang="de-DE" dirty="0" err="1"/>
              <a:t>buildNewInstructionArrayFrom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Wenn Double: </a:t>
            </a:r>
          </a:p>
          <a:p>
            <a:pPr lvl="3"/>
            <a:r>
              <a:rPr lang="de-DE" dirty="0"/>
              <a:t>(DCONST_0, DRETURN)</a:t>
            </a:r>
          </a:p>
          <a:p>
            <a:pPr lvl="2"/>
            <a:r>
              <a:rPr lang="de-DE" dirty="0"/>
              <a:t>Wenn Long:</a:t>
            </a:r>
          </a:p>
          <a:p>
            <a:pPr lvl="3"/>
            <a:r>
              <a:rPr lang="de-DE" dirty="0"/>
              <a:t>(LCONST_0, LRETURN)</a:t>
            </a:r>
          </a:p>
          <a:p>
            <a:pPr lvl="2"/>
            <a:r>
              <a:rPr lang="de-DE" dirty="0"/>
              <a:t>Wenn </a:t>
            </a:r>
            <a:r>
              <a:rPr lang="de-DE" dirty="0" err="1"/>
              <a:t>ReferenceType</a:t>
            </a:r>
            <a:r>
              <a:rPr lang="de-DE" dirty="0"/>
              <a:t>(vorher nicht abgefangen):</a:t>
            </a:r>
          </a:p>
          <a:p>
            <a:pPr lvl="3"/>
            <a:r>
              <a:rPr lang="de-DE" dirty="0"/>
              <a:t>(ACONST_NULL, ARETURN)</a:t>
            </a:r>
          </a:p>
          <a:p>
            <a:pPr lvl="2"/>
            <a:r>
              <a:rPr lang="de-DE" dirty="0"/>
              <a:t>Und noch weitere</a:t>
            </a:r>
          </a:p>
          <a:p>
            <a:pPr lvl="1"/>
            <a:r>
              <a:rPr lang="de-DE" dirty="0"/>
              <a:t>Gleiche Methode mit neuen Instruktionen</a:t>
            </a:r>
          </a:p>
        </p:txBody>
      </p:sp>
    </p:spTree>
    <p:extLst>
      <p:ext uri="{BB962C8B-B14F-4D97-AF65-F5344CB8AC3E}">
        <p14:creationId xmlns:p14="http://schemas.microsoft.com/office/powerpoint/2010/main" val="3460994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1683E9-43DB-D8C4-7D52-9D80E4DF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4.2 – Ausgabe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578A9A-E02A-653A-F7D2-48454BF4A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Modifizierte .</a:t>
            </a:r>
            <a:r>
              <a:rPr lang="de-DE" dirty="0" err="1"/>
              <a:t>class</a:t>
            </a:r>
            <a:r>
              <a:rPr lang="de-DE" dirty="0"/>
              <a:t> Dateien sind im ./4_2/Output zu finden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7949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592ABE-4916-D30D-AB02-7AC9FC31E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567363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085976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5B8245-DD8E-1D76-48CB-638D7092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Tests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4A444FC-0B64-24BA-5562-7E72EB4E1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ScalaTest</a:t>
            </a:r>
            <a:r>
              <a:rPr lang="de-DE" dirty="0"/>
              <a:t> 3.2.19,    </a:t>
            </a:r>
            <a:r>
              <a:rPr lang="de-DE" dirty="0" err="1"/>
              <a:t>Junit</a:t>
            </a:r>
            <a:r>
              <a:rPr lang="de-DE" dirty="0"/>
              <a:t> 5.10.3,      </a:t>
            </a:r>
            <a:r>
              <a:rPr lang="de-DE" dirty="0" err="1"/>
              <a:t>Scoverage</a:t>
            </a:r>
            <a:r>
              <a:rPr lang="de-DE" dirty="0"/>
              <a:t> 2.2.0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7122443-61D6-1DA1-E242-A4ECFD25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2" y="2367374"/>
            <a:ext cx="11041596" cy="394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61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Breitbild</PresentationFormat>
  <Paragraphs>117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Symbol</vt:lpstr>
      <vt:lpstr>Office</vt:lpstr>
      <vt:lpstr>Statische Programmanalyse</vt:lpstr>
      <vt:lpstr>PowerPoint-Präsentation</vt:lpstr>
      <vt:lpstr>Theorie 4.1 – Konfigurierbarkeit (inkl. Paths)</vt:lpstr>
      <vt:lpstr>Theorie 4.1 – Vorgehen?</vt:lpstr>
      <vt:lpstr>Wofür haben wir uns entschieden?</vt:lpstr>
      <vt:lpstr>Praxis 4.1 – Kommandozeilenparameter</vt:lpstr>
      <vt:lpstr>Praxis 4.1 – task4_1</vt:lpstr>
      <vt:lpstr>Praxis 4.1 – ModifyClasses</vt:lpstr>
      <vt:lpstr>Praxis 4.1 – Ausgabe</vt:lpstr>
      <vt:lpstr>Stack-Layouts - Aufruf-Instruktionen </vt:lpstr>
      <vt:lpstr>Unser Umgang</vt:lpstr>
      <vt:lpstr>PowerPoint-Präsentation</vt:lpstr>
      <vt:lpstr>Theorie 4.2 - Konfigurierbarkeit (inkl. Paths) </vt:lpstr>
      <vt:lpstr>Theorie 4.2 – Vorgehen?</vt:lpstr>
      <vt:lpstr>Praxis 4.2 – Kommandozeilenparameter</vt:lpstr>
      <vt:lpstr>Praxis 4.2 – task4_2</vt:lpstr>
      <vt:lpstr>Praxis 4.2 - CreateClasses</vt:lpstr>
      <vt:lpstr>Praxis 4.2 – Ausgabe</vt:lpstr>
      <vt:lpstr>PowerPoint-Präsentation</vt:lpstr>
      <vt:lpstr>Tests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Roman Pauli</dc:creator>
  <cp:lastModifiedBy>Roman Pauli</cp:lastModifiedBy>
  <cp:revision>93</cp:revision>
  <dcterms:created xsi:type="dcterms:W3CDTF">2024-11-19T10:54:50Z</dcterms:created>
  <dcterms:modified xsi:type="dcterms:W3CDTF">2024-12-03T20:54:55Z</dcterms:modified>
</cp:coreProperties>
</file>
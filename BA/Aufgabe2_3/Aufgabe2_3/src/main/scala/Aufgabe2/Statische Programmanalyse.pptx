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8" r:id="rId7"/>
    <p:sldId id="269" r:id="rId8"/>
    <p:sldId id="260" r:id="rId9"/>
    <p:sldId id="266" r:id="rId10"/>
    <p:sldId id="261" r:id="rId11"/>
    <p:sldId id="270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C3929-EF68-F5DC-E6A1-099DFDEBDF15}" v="143" dt="2024-10-22T14:06:04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1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970DF-FC60-47DC-BAEC-D04D19855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6263ED-E94E-41B9-A57E-E117DC74E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B866DA-C64A-45ED-9D41-2A3CA8BA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6B95BB-A605-4CAE-8600-29790DD0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BC06F-ADE5-4764-8187-3D94A250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62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11AF9-6569-43C0-AAD8-91A7ECB2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9D904-A882-4B00-A28D-C58BFE4B2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FD0EFF-D070-4E96-A2C7-7CFA2CF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022FF9-2B24-422F-B82D-839F1244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C489D-EE69-446F-9DE3-C1BA9A08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15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EADA2-A30D-4AD4-8021-8680CA23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F509F9-DC19-4E78-AF1B-28525E93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A34BF3-58E0-48AA-BAE9-9C55686B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FA76F5-D942-4DD3-95B6-8294A678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907BB-25F0-4019-850F-2831C019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82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AD12B-CF12-494B-BEAA-49EAD95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8E7ECC-0C9F-4B3F-8BA6-2D389AEBC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392E14-2FAD-45F5-B9D4-439CC2667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89C9D8-B31D-44AB-B5D4-DD2DEF45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7D7558-C4C5-4B27-BEBB-8B16CA4F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3733E6-8F48-4122-ADA8-C4C7D616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724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E467D-9998-495F-A5A4-177FF422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5039DA-EDFA-4A5B-8475-A2DC5FA4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B0CCE0-FCFD-4980-A804-63C7FE5E9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0AB7A5-A81E-4D66-9FF5-0BF5EA24E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E47DC92-6EBD-4C42-AC22-997EE7C13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6CDDF3-DC0C-4D93-AD9C-F92BBF6F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AD9D73-2D42-4176-94BE-A93C4D16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5A9F4CC-B2C6-4861-B772-BDE58FAA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10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8B9983-B8CA-4803-A711-9137DAB8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E9010F-1CBD-4C1E-83D4-B3CFA742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473BCF-680C-4B45-8703-92BE0A08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3530E9-67E2-409F-AE1B-65508F5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31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135C53-5676-4052-A662-A0513CB5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075599A-45F7-46C4-BACA-3EAE8DBD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70A2A5-ED5C-4426-8500-4C2368482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6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B2241-796F-432F-958A-D31253C4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E1DB83-8F41-49DC-BABC-5C46C1C9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E5F804-20C3-4A1B-8371-F60D3158D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45BD46-8B7A-4DBC-A9B5-EA5956F4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5370C8-B075-4EA2-BAC6-A47E83A8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B59397-70C8-44A6-BAD2-52F28B86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90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495EF-69E8-4096-9F5D-A3F55501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EDF9A4-B421-4787-A1C3-C0761EE1A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8006BE-5DCC-4544-A91C-A99D5BFDF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9832DE-C1A1-4B5D-9D42-793D251A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4BDB15-5B0F-4D0D-BAF3-256A71A4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D0347A-43F0-41F5-9702-8BBBFBE8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601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EC8583-4A58-45CA-8EB9-F64A633B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E2FFE4-C3DF-489F-BD72-C87B5F933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7725BA-0B0A-475F-B836-168EDCE0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725028-E093-4096-ACFC-DF6A286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A7C821-1D91-49F8-AACD-6904FD45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70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D43D9C7-3E59-4E49-A5D7-38492D4EC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9DE174-16D1-4BEC-A000-645053B88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9ABB98-6D74-4D68-8102-A1AC971A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13C470-7DFE-4ED0-95E0-962E8B4C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C4E2F0-9BCA-4343-B9ED-146C2582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77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C74FDF2-3B16-4F21-A652-2E0C8028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DAC2CA-3A7C-4C17-AD22-4E654C29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E1E79A-3694-4F70-9EE2-CEA35AF3B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E2E8A-9603-420F-8A7E-03165C97A4D7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17024C-CB28-408F-9B76-9DDBF4A68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794A99-0006-448F-9109-480B8BE6F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24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0D2C7E7-E257-4EBC-9658-D49A5CC2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 dirty="0">
                <a:solidFill>
                  <a:schemeClr val="tx2"/>
                </a:solidFill>
              </a:rPr>
              <a:t>Statische Programmanalyse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3BDAA2-ECB1-47E0-B3BE-F955A58A2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Aufruf kritischer Methoden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66F447-08C2-575D-4845-A391A32A58A6}"/>
              </a:ext>
            </a:extLst>
          </p:cNvPr>
          <p:cNvSpPr txBox="1"/>
          <p:nvPr/>
        </p:nvSpPr>
        <p:spPr>
          <a:xfrm>
            <a:off x="8534400" y="4886960"/>
            <a:ext cx="2956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Gruppe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1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13DBB5-0775-4509-925A-44FDC020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Vorüberlegungen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43FBB-0E39-4010-BA9E-74D1323B5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Wie kann man die Problemstellung „</a:t>
            </a:r>
            <a:r>
              <a:rPr lang="de-DE" dirty="0" err="1"/>
              <a:t>sound</a:t>
            </a:r>
            <a:r>
              <a:rPr lang="de-DE" dirty="0"/>
              <a:t>“ lösen?</a:t>
            </a:r>
          </a:p>
          <a:p>
            <a:r>
              <a:rPr lang="de-DE" dirty="0"/>
              <a:t>Wie soll das Programm konfigurierbar sein?</a:t>
            </a:r>
          </a:p>
        </p:txBody>
      </p:sp>
    </p:spTree>
    <p:extLst>
      <p:ext uri="{BB962C8B-B14F-4D97-AF65-F5344CB8AC3E}">
        <p14:creationId xmlns:p14="http://schemas.microsoft.com/office/powerpoint/2010/main" val="188784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1ECD1-4883-4589-A224-A1B79B51B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Erfüllung der „</a:t>
            </a:r>
            <a:r>
              <a:rPr lang="de-DE" dirty="0" err="1"/>
              <a:t>sound</a:t>
            </a:r>
            <a:r>
              <a:rPr lang="de-DE" dirty="0"/>
              <a:t>“ Eigenschaft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7D7852-1C72-44A3-9871-303186FDB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de-DE" dirty="0"/>
              <a:t>Durchlauf jeder Klasse</a:t>
            </a:r>
          </a:p>
          <a:p>
            <a:pPr lvl="1"/>
            <a:r>
              <a:rPr lang="de-DE" dirty="0"/>
              <a:t>Durchlauf jeder Methode</a:t>
            </a:r>
          </a:p>
          <a:p>
            <a:pPr lvl="2"/>
            <a:r>
              <a:rPr lang="de-DE" dirty="0"/>
              <a:t>Durchlauf jeder Instruktion</a:t>
            </a:r>
          </a:p>
          <a:p>
            <a:pPr lvl="3"/>
            <a:r>
              <a:rPr lang="de-DE" dirty="0" err="1"/>
              <a:t>Invokevirtual</a:t>
            </a:r>
            <a:r>
              <a:rPr lang="de-DE" dirty="0"/>
              <a:t>: reguläre </a:t>
            </a:r>
            <a:r>
              <a:rPr lang="de-DE" dirty="0" err="1"/>
              <a:t>Instanzmethoden</a:t>
            </a:r>
            <a:r>
              <a:rPr lang="de-DE" dirty="0"/>
              <a:t> (</a:t>
            </a:r>
            <a:r>
              <a:rPr lang="de-DE" dirty="0" err="1"/>
              <a:t>obj.method</a:t>
            </a:r>
            <a:r>
              <a:rPr lang="de-DE" dirty="0"/>
              <a:t>())</a:t>
            </a:r>
          </a:p>
          <a:p>
            <a:pPr lvl="3"/>
            <a:r>
              <a:rPr lang="de-DE" dirty="0" err="1"/>
              <a:t>Invokestatic</a:t>
            </a:r>
            <a:r>
              <a:rPr lang="de-DE" dirty="0"/>
              <a:t>: statische Methoden (</a:t>
            </a:r>
            <a:r>
              <a:rPr lang="de-DE" dirty="0" err="1"/>
              <a:t>Math.max</a:t>
            </a:r>
            <a:r>
              <a:rPr lang="de-DE" dirty="0"/>
              <a:t>())</a:t>
            </a:r>
          </a:p>
          <a:p>
            <a:pPr lvl="3"/>
            <a:r>
              <a:rPr lang="de-DE" dirty="0" err="1"/>
              <a:t>Invokespecial</a:t>
            </a:r>
            <a:r>
              <a:rPr lang="de-DE" dirty="0"/>
              <a:t>: spezielle Methoden (Konstruktoren, private Methoden, Superklassen)</a:t>
            </a:r>
          </a:p>
          <a:p>
            <a:pPr lvl="3"/>
            <a:r>
              <a:rPr lang="de-DE" dirty="0" err="1"/>
              <a:t>Invokeinterface</a:t>
            </a:r>
            <a:r>
              <a:rPr lang="de-DE" dirty="0"/>
              <a:t>: Methoden, die durch Interface definiert sind</a:t>
            </a:r>
          </a:p>
          <a:p>
            <a:r>
              <a:rPr lang="de-DE" dirty="0" err="1"/>
              <a:t>False</a:t>
            </a:r>
            <a:r>
              <a:rPr lang="de-DE" dirty="0"/>
              <a:t> Positives?</a:t>
            </a:r>
          </a:p>
          <a:p>
            <a:pPr lvl="1"/>
            <a:r>
              <a:rPr lang="de-DE" dirty="0"/>
              <a:t>Ja, da auch Methoden-</a:t>
            </a:r>
            <a:r>
              <a:rPr lang="de-DE" dirty="0" err="1"/>
              <a:t>calls</a:t>
            </a:r>
            <a:r>
              <a:rPr lang="de-DE" dirty="0"/>
              <a:t> analysiert werden, die nicht zwangsläufig vom Programm genutzt werden</a:t>
            </a:r>
          </a:p>
          <a:p>
            <a:pPr marL="1371600" lvl="3" indent="0">
              <a:buNone/>
            </a:pPr>
            <a:br>
              <a:rPr lang="de-DE" dirty="0"/>
            </a:br>
            <a:endParaRPr lang="de-DE" dirty="0"/>
          </a:p>
          <a:p>
            <a:pPr lvl="4"/>
            <a:endParaRPr lang="de-DE" dirty="0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6EF30F63-71DA-499B-8B23-138BEC05FAA9}"/>
              </a:ext>
            </a:extLst>
          </p:cNvPr>
          <p:cNvSpPr/>
          <p:nvPr/>
        </p:nvSpPr>
        <p:spPr>
          <a:xfrm>
            <a:off x="9160280" y="960138"/>
            <a:ext cx="1006679" cy="2852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380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2A347-EE37-73D7-57E7-DD6B46D2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Nutzung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1168D7-307B-DEF6-4535-DD6C11E5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de-DE" dirty="0"/>
              <a:t>File muss im Verzeichnis vorhanden sein</a:t>
            </a:r>
          </a:p>
          <a:p>
            <a:r>
              <a:rPr lang="de-DE" dirty="0"/>
              <a:t>Die zu suchenden Methoden werden als Kommandozeilenargumente gesetzt (ebenso die zu durchsuchende Datei)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121B2B8-92C5-26AC-ED69-126C8126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246" y="218335"/>
            <a:ext cx="3653744" cy="119527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51AB82F-3D24-1BFF-426B-AF896F5D8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131599"/>
            <a:ext cx="10035977" cy="5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5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FD8A9-2416-49CE-83DA-4CA3693D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Programmierung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B2BF6C-C665-8EBD-9388-141C019B4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998"/>
            <a:ext cx="10515600" cy="4351338"/>
          </a:xfrm>
        </p:spPr>
        <p:txBody>
          <a:bodyPr/>
          <a:lstStyle/>
          <a:p>
            <a:r>
              <a:rPr lang="de-DE" dirty="0"/>
              <a:t>Input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98EBF77-6B72-2E4A-CE7C-85BEFF3B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83165"/>
            <a:ext cx="10054694" cy="46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3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D90A-8532-261B-2CD1-4DAF58F7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898C1-48A9-0E18-A9E9-AF5FF2C6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Programmierung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C0DD68-F8A9-E277-D4CC-AE9D8C967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99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Durchlauf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3DFB2B-106E-803B-7DFF-25E4724C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695" y="1346789"/>
            <a:ext cx="8582872" cy="54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38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3DA6-D676-9B96-F22A-E0012875D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0EA5F-3BD5-36C9-A120-10666A45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Programmierung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926052-AD89-FA84-54E8-E645C3E0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99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Wie wird überprüft, ob Methode gesucht wird?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937B36-0834-4649-0DD2-ACEF04812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13" y="2055740"/>
            <a:ext cx="9198824" cy="465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46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BD2E8-226C-478A-9E6A-832ED2D2B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Anforderungen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9A0A6C-ACAA-4032-8484-D7F657494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Wann sinnvoll Aufrufe zu ignorieren?</a:t>
            </a:r>
          </a:p>
          <a:p>
            <a:pPr lvl="1">
              <a:buFontTx/>
              <a:buChar char="-"/>
            </a:pPr>
            <a:r>
              <a:rPr lang="de-DE" dirty="0"/>
              <a:t>Wenn eigentlich nicht genutzt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de-DE" dirty="0"/>
              <a:t>Überprüfen, ob überhaupt aufgerufen </a:t>
            </a:r>
          </a:p>
          <a:p>
            <a:pPr marL="0" indent="0">
              <a:buNone/>
            </a:pPr>
            <a:r>
              <a:rPr lang="de-DE" dirty="0"/>
              <a:t>- Über Baumstruktur Programmdurchlauf analysieren</a:t>
            </a:r>
          </a:p>
        </p:txBody>
      </p:sp>
    </p:spTree>
    <p:extLst>
      <p:ext uri="{BB962C8B-B14F-4D97-AF65-F5344CB8AC3E}">
        <p14:creationId xmlns:p14="http://schemas.microsoft.com/office/powerpoint/2010/main" val="263752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2D226-A6C6-2205-0BE8-40969812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cs typeface="Calibri Light"/>
              </a:rPr>
              <a:t>Praktische Anwendung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EDF6E7-CE58-9316-C7D9-B0230DD2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cs typeface="Calibri"/>
              </a:rPr>
              <a:t>Sicherheitskritische Methodenaufrufe erkennen</a:t>
            </a:r>
          </a:p>
          <a:p>
            <a:r>
              <a:rPr lang="de-DE" dirty="0">
                <a:cs typeface="Calibri"/>
              </a:rPr>
              <a:t>Hinweise auf mögliche Teilaufgaben der Datei</a:t>
            </a:r>
          </a:p>
          <a:p>
            <a:endParaRPr lang="de-DE" dirty="0">
              <a:cs typeface="Calibri"/>
            </a:endParaRPr>
          </a:p>
        </p:txBody>
      </p:sp>
      <p:pic>
        <p:nvPicPr>
          <p:cNvPr id="9" name="Grafik 8" descr="Ein Bild, das Zeichnung, Clipart, Cartoon, Darstellung enthält.&#10;&#10;Beschreibung automatisch generiert.">
            <a:extLst>
              <a:ext uri="{FF2B5EF4-FFF2-40B4-BE49-F238E27FC236}">
                <a16:creationId xmlns:a16="http://schemas.microsoft.com/office/drawing/2014/main" id="{93635AD2-60F2-05EE-CAC5-BE1EA4DB7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0" y="4549140"/>
            <a:ext cx="3200400" cy="183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8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917C0-98C5-4A17-96FF-90326AAE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Benutzerfreundlichkeit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A81BB6-3218-417B-A7D9-3BCB0C7F0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Nutzung von Kommandozeilenargumenten</a:t>
            </a:r>
          </a:p>
          <a:p>
            <a:r>
              <a:rPr lang="de-DE" dirty="0"/>
              <a:t>Fehlerabfragen</a:t>
            </a:r>
          </a:p>
          <a:p>
            <a:r>
              <a:rPr lang="de-DE" dirty="0"/>
              <a:t>Simple Ausgabe</a:t>
            </a:r>
          </a:p>
        </p:txBody>
      </p:sp>
    </p:spTree>
    <p:extLst>
      <p:ext uri="{BB962C8B-B14F-4D97-AF65-F5344CB8AC3E}">
        <p14:creationId xmlns:p14="http://schemas.microsoft.com/office/powerpoint/2010/main" val="198579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C28123-F9A6-E3AA-905C-3C3423FD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362"/>
            <a:ext cx="10515600" cy="588260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Und jetzt zur Ausführung</a:t>
            </a:r>
          </a:p>
        </p:txBody>
      </p:sp>
    </p:spTree>
    <p:extLst>
      <p:ext uri="{BB962C8B-B14F-4D97-AF65-F5344CB8AC3E}">
        <p14:creationId xmlns:p14="http://schemas.microsoft.com/office/powerpoint/2010/main" val="2183901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182</Words>
  <Application>Microsoft Office PowerPoint</Application>
  <PresentationFormat>Breitbild</PresentationFormat>
  <Paragraphs>39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</vt:lpstr>
      <vt:lpstr>Statische Programmanalyse</vt:lpstr>
      <vt:lpstr>Vorüberlegungen</vt:lpstr>
      <vt:lpstr>Erfüllung der „sound“ Eigenschaft</vt:lpstr>
      <vt:lpstr>Die Nutzung</vt:lpstr>
      <vt:lpstr>Die Programmierung</vt:lpstr>
      <vt:lpstr>Die Programmierung</vt:lpstr>
      <vt:lpstr>Die Programmierung</vt:lpstr>
      <vt:lpstr>Weitere Anforderungen</vt:lpstr>
      <vt:lpstr>Praktische Anwendung</vt:lpstr>
      <vt:lpstr>Benutzerfreundlichkeit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Statische Syntaxanalyse</dc:title>
  <dc:creator>Daniel Brenner</dc:creator>
  <cp:lastModifiedBy>Roman Pauli</cp:lastModifiedBy>
  <cp:revision>62</cp:revision>
  <dcterms:created xsi:type="dcterms:W3CDTF">2024-10-21T14:31:38Z</dcterms:created>
  <dcterms:modified xsi:type="dcterms:W3CDTF">2024-11-04T08:46:43Z</dcterms:modified>
</cp:coreProperties>
</file>
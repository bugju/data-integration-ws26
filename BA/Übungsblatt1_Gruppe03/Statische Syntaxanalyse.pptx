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6" r:id="rId10"/>
    <p:sldId id="26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C3929-EF68-F5DC-E6A1-099DFDEBDF15}" v="143" dt="2024-10-22T14:06:04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970DF-FC60-47DC-BAEC-D04D19855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6263ED-E94E-41B9-A57E-E117DC74E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B866DA-C64A-45ED-9D41-2A3CA8BA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6B95BB-A605-4CAE-8600-29790DD0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BC06F-ADE5-4764-8187-3D94A250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62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11AF9-6569-43C0-AAD8-91A7ECB2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9D904-A882-4B00-A28D-C58BFE4B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FD0EFF-D070-4E96-A2C7-7CFA2CF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022FF9-2B24-422F-B82D-839F1244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C489D-EE69-446F-9DE3-C1BA9A08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15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EADA2-A30D-4AD4-8021-8680CA23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F509F9-DC19-4E78-AF1B-28525E93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A34BF3-58E0-48AA-BAE9-9C55686B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FA76F5-D942-4DD3-95B6-8294A678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907BB-25F0-4019-850F-2831C019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82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AD12B-CF12-494B-BEAA-49EAD95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E7ECC-0C9F-4B3F-8BA6-2D389AEBC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392E14-2FAD-45F5-B9D4-439CC2667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89C9D8-B31D-44AB-B5D4-DD2DEF45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D7558-C4C5-4B27-BEBB-8B16CA4F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3733E6-8F48-4122-ADA8-C4C7D616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724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E467D-9998-495F-A5A4-177FF422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5039DA-EDFA-4A5B-8475-A2DC5FA4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B0CCE0-FCFD-4980-A804-63C7FE5E9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0AB7A5-A81E-4D66-9FF5-0BF5EA24E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47DC92-6EBD-4C42-AC22-997EE7C13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6CDDF3-DC0C-4D93-AD9C-F92BBF6F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AD9D73-2D42-4176-94BE-A93C4D16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A9F4CC-B2C6-4861-B772-BDE58FAA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10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8B9983-B8CA-4803-A711-9137DAB8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E9010F-1CBD-4C1E-83D4-B3CFA742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473BCF-680C-4B45-8703-92BE0A0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3530E9-67E2-409F-AE1B-65508F5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31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135C53-5676-4052-A662-A0513CB5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75599A-45F7-46C4-BACA-3EAE8DBD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70A2A5-ED5C-4426-8500-4C236848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6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B2241-796F-432F-958A-D31253C4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E1DB83-8F41-49DC-BABC-5C46C1C9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E5F804-20C3-4A1B-8371-F60D3158D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45BD46-8B7A-4DBC-A9B5-EA5956F4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5370C8-B075-4EA2-BAC6-A47E83A8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B59397-70C8-44A6-BAD2-52F28B8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90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495EF-69E8-4096-9F5D-A3F55501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EDF9A4-B421-4787-A1C3-C0761EE1A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8006BE-5DCC-4544-A91C-A99D5BFDF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9832DE-C1A1-4B5D-9D42-793D251A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4BDB15-5B0F-4D0D-BAF3-256A71A4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D0347A-43F0-41F5-9702-8BBBFBE8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601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C8583-4A58-45CA-8EB9-F64A633B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E2FFE4-C3DF-489F-BD72-C87B5F933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7725BA-0B0A-475F-B836-168EDCE0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725028-E093-4096-ACFC-DF6A28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A7C821-1D91-49F8-AACD-6904FD45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70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D43D9C7-3E59-4E49-A5D7-38492D4EC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9DE174-16D1-4BEC-A000-645053B8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9ABB98-6D74-4D68-8102-A1AC971A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13C470-7DFE-4ED0-95E0-962E8B4C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C4E2F0-9BCA-4343-B9ED-146C2582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77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74FDF2-3B16-4F21-A652-2E0C8028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DAC2CA-3A7C-4C17-AD22-4E654C29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E1E79A-3694-4F70-9EE2-CEA35AF3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E2E8A-9603-420F-8A7E-03165C97A4D7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17024C-CB28-408F-9B76-9DDBF4A68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794A99-0006-448F-9109-480B8BE6F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A9126-3312-464E-B984-7A50DA8E7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24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>
                <a:solidFill>
                  <a:schemeClr val="tx2"/>
                </a:solidFill>
              </a:rPr>
              <a:t>Statische Syntaxanalyse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2"/>
                </a:solidFill>
              </a:rPr>
              <a:t>Detektion von Gottklassen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3DBB5-0775-4509-925A-44FDC020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Vorüberlegungen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43FBB-0E39-4010-BA9E-74D1323B5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eine Gottklasse?</a:t>
            </a:r>
          </a:p>
          <a:p>
            <a:r>
              <a:rPr lang="de-DE" dirty="0"/>
              <a:t>Wie lassen sich Schwellenwerte konfigurieren?</a:t>
            </a:r>
          </a:p>
        </p:txBody>
      </p:sp>
    </p:spTree>
    <p:extLst>
      <p:ext uri="{BB962C8B-B14F-4D97-AF65-F5344CB8AC3E}">
        <p14:creationId xmlns:p14="http://schemas.microsoft.com/office/powerpoint/2010/main" val="188784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1ECD1-4883-4589-A224-A1B79B51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Eigenschaften von Gottklassen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7D7852-1C72-44A3-9871-303186FDB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de-DE" dirty="0"/>
              <a:t>Hohe Anzahl an Methoden               </a:t>
            </a:r>
            <a:r>
              <a:rPr lang="de-DE" dirty="0" err="1"/>
              <a:t>methodsWithBody.size</a:t>
            </a:r>
            <a:r>
              <a:rPr lang="de-DE" dirty="0"/>
              <a:t>()</a:t>
            </a:r>
          </a:p>
          <a:p>
            <a:r>
              <a:rPr lang="de-DE" dirty="0"/>
              <a:t>Hohe Anzahl an Feldern                </a:t>
            </a:r>
            <a:r>
              <a:rPr lang="de-DE" dirty="0" err="1"/>
              <a:t>fields.size</a:t>
            </a:r>
            <a:r>
              <a:rPr lang="de-DE" dirty="0"/>
              <a:t>()</a:t>
            </a:r>
          </a:p>
          <a:p>
            <a:r>
              <a:rPr lang="de-DE" dirty="0"/>
              <a:t>Hohe Anzahl an Instruktionen                </a:t>
            </a:r>
            <a:r>
              <a:rPr lang="de-DE" dirty="0" err="1"/>
              <a:t>body.instructionsCount</a:t>
            </a:r>
            <a:r>
              <a:rPr lang="de-DE" dirty="0"/>
              <a:t>()             </a:t>
            </a:r>
          </a:p>
          <a:p>
            <a:r>
              <a:rPr lang="de-DE" dirty="0"/>
              <a:t>Kohäsion                LCOM2</a:t>
            </a:r>
          </a:p>
          <a:p>
            <a:r>
              <a:rPr lang="de-DE" dirty="0"/>
              <a:t>Kopplung               Zugriff auf Methoden und Felder prüfen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EF30F63-71DA-499B-8B23-138BEC05FAA9}"/>
              </a:ext>
            </a:extLst>
          </p:cNvPr>
          <p:cNvSpPr/>
          <p:nvPr/>
        </p:nvSpPr>
        <p:spPr>
          <a:xfrm>
            <a:off x="5089321" y="1786856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272C6C6D-D727-416E-8799-96D3DF20135F}"/>
              </a:ext>
            </a:extLst>
          </p:cNvPr>
          <p:cNvSpPr/>
          <p:nvPr/>
        </p:nvSpPr>
        <p:spPr>
          <a:xfrm>
            <a:off x="4704825" y="2283204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BEBB0337-8AA0-4271-ABF5-C7DA7FE3000D}"/>
              </a:ext>
            </a:extLst>
          </p:cNvPr>
          <p:cNvSpPr/>
          <p:nvPr/>
        </p:nvSpPr>
        <p:spPr>
          <a:xfrm>
            <a:off x="5528344" y="2806117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839FC772-1696-44E4-BE1C-6A6FA373C06E}"/>
              </a:ext>
            </a:extLst>
          </p:cNvPr>
          <p:cNvSpPr/>
          <p:nvPr/>
        </p:nvSpPr>
        <p:spPr>
          <a:xfrm>
            <a:off x="2618762" y="3286387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A1A1CFF6-EFA0-4BB9-BDC2-39667AC3B35E}"/>
              </a:ext>
            </a:extLst>
          </p:cNvPr>
          <p:cNvSpPr/>
          <p:nvPr/>
        </p:nvSpPr>
        <p:spPr>
          <a:xfrm>
            <a:off x="2618762" y="3799245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380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FD8A9-2416-49CE-83DA-4CA3693D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Programmierung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1445401-BCFD-4790-B4D5-BE7DCF14F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813" y="1690688"/>
            <a:ext cx="3562847" cy="447737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2253D20-6598-4907-87BF-DC4B9767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13" y="2357843"/>
            <a:ext cx="2753109" cy="4477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CAC407C-0DBB-43CE-9220-2B58E7B5F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13" y="3104551"/>
            <a:ext cx="3134162" cy="189574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BF50BA1-8EF8-46FA-B950-610AA3E9AA66}"/>
              </a:ext>
            </a:extLst>
          </p:cNvPr>
          <p:cNvSpPr txBox="1"/>
          <p:nvPr/>
        </p:nvSpPr>
        <p:spPr>
          <a:xfrm>
            <a:off x="4915949" y="1652947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Zählt Anzahl an Methoden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2646D6D-5878-40DC-956B-878D2CED9E75}"/>
              </a:ext>
            </a:extLst>
          </p:cNvPr>
          <p:cNvSpPr txBox="1"/>
          <p:nvPr/>
        </p:nvSpPr>
        <p:spPr>
          <a:xfrm>
            <a:off x="4915949" y="2320101"/>
            <a:ext cx="3595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Zählt Anzahl an Feldern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B35199-44DF-412D-832A-D1E2ACCDDBA3}"/>
              </a:ext>
            </a:extLst>
          </p:cNvPr>
          <p:cNvSpPr txBox="1"/>
          <p:nvPr/>
        </p:nvSpPr>
        <p:spPr>
          <a:xfrm>
            <a:off x="4915949" y="3104551"/>
            <a:ext cx="4454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Zählt Anzahl an Instruktionen</a:t>
            </a:r>
          </a:p>
        </p:txBody>
      </p:sp>
    </p:spTree>
    <p:extLst>
      <p:ext uri="{BB962C8B-B14F-4D97-AF65-F5344CB8AC3E}">
        <p14:creationId xmlns:p14="http://schemas.microsoft.com/office/powerpoint/2010/main" val="254653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FB7E4-3297-487F-BD2B-EDA1785F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LCOM2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BB27F1A-EA6A-49DF-8B51-536C37E28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2737"/>
            <a:ext cx="4122600" cy="43513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439D35-E0BA-4828-9959-6849FFE7BDA5}"/>
              </a:ext>
            </a:extLst>
          </p:cNvPr>
          <p:cNvSpPr txBox="1"/>
          <p:nvPr/>
        </p:nvSpPr>
        <p:spPr>
          <a:xfrm>
            <a:off x="4960800" y="1892737"/>
            <a:ext cx="5981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Liste</a:t>
            </a:r>
            <a:r>
              <a:rPr lang="de-DE" dirty="0"/>
              <a:t>                        </a:t>
            </a:r>
            <a:r>
              <a:rPr lang="de-DE" sz="2800" dirty="0"/>
              <a:t>Anzahl der Zugriffe auf Felder (je Methode; kein Konstruktor)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793E726-2EDE-4092-8690-8F6503A9E293}"/>
              </a:ext>
            </a:extLst>
          </p:cNvPr>
          <p:cNvSpPr/>
          <p:nvPr/>
        </p:nvSpPr>
        <p:spPr>
          <a:xfrm>
            <a:off x="5827552" y="1985093"/>
            <a:ext cx="1006679" cy="2852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Pfeil: nach oben gebogen 8">
            <a:extLst>
              <a:ext uri="{FF2B5EF4-FFF2-40B4-BE49-F238E27FC236}">
                <a16:creationId xmlns:a16="http://schemas.microsoft.com/office/drawing/2014/main" id="{356038DD-C83F-48F2-A86D-11EC25EB9F80}"/>
              </a:ext>
            </a:extLst>
          </p:cNvPr>
          <p:cNvSpPr/>
          <p:nvPr/>
        </p:nvSpPr>
        <p:spPr>
          <a:xfrm rot="5400000">
            <a:off x="5025594" y="2832232"/>
            <a:ext cx="466134" cy="433323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EABE1BD-1521-48C6-AD16-20165D561B67}"/>
              </a:ext>
            </a:extLst>
          </p:cNvPr>
          <p:cNvSpPr txBox="1"/>
          <p:nvPr/>
        </p:nvSpPr>
        <p:spPr>
          <a:xfrm>
            <a:off x="5039097" y="2849949"/>
            <a:ext cx="71529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   </a:t>
            </a:r>
            <a:r>
              <a:rPr lang="de-DE" sz="2800" dirty="0"/>
              <a:t>Put- und </a:t>
            </a:r>
            <a:r>
              <a:rPr lang="de-DE" sz="2800" dirty="0" err="1"/>
              <a:t>Get</a:t>
            </a:r>
            <a:r>
              <a:rPr lang="de-DE" sz="2800" dirty="0"/>
              <a:t>-Felder in Instruktionen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Hilfsfunktion </a:t>
            </a:r>
            <a:r>
              <a:rPr lang="de-DE" sz="2800" dirty="0" err="1"/>
              <a:t>countAccess</a:t>
            </a:r>
            <a:r>
              <a:rPr lang="de-DE" sz="2800" dirty="0"/>
              <a:t>: Zählt wie oft eine Methode auf Felder zugreift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 err="1"/>
              <a:t>possibleAccess</a:t>
            </a:r>
            <a:r>
              <a:rPr lang="de-DE" sz="2800" dirty="0"/>
              <a:t>: Theoretisch mögliche Zugriffe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Berechnung:</a:t>
            </a:r>
          </a:p>
          <a:p>
            <a:r>
              <a:rPr lang="de-DE" sz="2800" dirty="0"/>
              <a:t>1-(</a:t>
            </a:r>
            <a:r>
              <a:rPr lang="de-DE" sz="2800" dirty="0" err="1"/>
              <a:t>tatsächlicheZugriffe</a:t>
            </a:r>
            <a:r>
              <a:rPr lang="de-DE" sz="2800" dirty="0"/>
              <a:t>/</a:t>
            </a:r>
            <a:r>
              <a:rPr lang="de-DE" sz="2800" dirty="0" err="1"/>
              <a:t>möglicheZugriffe</a:t>
            </a:r>
            <a:r>
              <a:rPr lang="de-DE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70535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74ADC-0279-44CB-98BE-3F02FA27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Kopplung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5464A30-30EA-4045-B241-A8B67DCA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0741"/>
            <a:ext cx="6277851" cy="10574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86C5219-B7D7-4756-9807-63C148658A3A}"/>
              </a:ext>
            </a:extLst>
          </p:cNvPr>
          <p:cNvSpPr txBox="1"/>
          <p:nvPr/>
        </p:nvSpPr>
        <p:spPr>
          <a:xfrm>
            <a:off x="838200" y="4101631"/>
            <a:ext cx="102856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Hilfsfunktion </a:t>
            </a:r>
            <a:r>
              <a:rPr lang="de-DE" sz="2800" dirty="0" err="1"/>
              <a:t>accessOtherClass</a:t>
            </a:r>
            <a:r>
              <a:rPr lang="de-DE" sz="2800" dirty="0"/>
              <a:t>: Zählt wie oft andere Klassen aufgerufen werden, anschließend wird der Counter für die einzelnen Klassen erhöht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 err="1"/>
              <a:t>UpdatedClassList</a:t>
            </a:r>
            <a:r>
              <a:rPr lang="de-DE" sz="2800" dirty="0"/>
              <a:t>: </a:t>
            </a:r>
            <a:r>
              <a:rPr lang="de-DE" sz="2800" dirty="0" err="1"/>
              <a:t>Map</a:t>
            </a:r>
            <a:r>
              <a:rPr lang="de-DE" sz="2800" dirty="0"/>
              <a:t> jeder Klasse wird um </a:t>
            </a:r>
            <a:r>
              <a:rPr lang="de-DE" sz="2800" dirty="0" err="1"/>
              <a:t>dependencie</a:t>
            </a:r>
            <a:r>
              <a:rPr lang="de-DE" sz="2800" dirty="0"/>
              <a:t> ergänzt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8C4BEF-ADAC-DDAA-FE59-05FB894C8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B3BA18-D94A-214B-D55C-495AE085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7616515" cy="116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12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DB5EA-87C6-4D24-9C66-C5FDAEDD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Finale Berechnung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69BAA8B-6777-4790-888E-71A5900FA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195"/>
            <a:ext cx="10515600" cy="3097172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8182F44-C0E3-4183-B2B5-4C5D2599BA4F}"/>
              </a:ext>
            </a:extLst>
          </p:cNvPr>
          <p:cNvSpPr txBox="1"/>
          <p:nvPr/>
        </p:nvSpPr>
        <p:spPr>
          <a:xfrm>
            <a:off x="838200" y="4681057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 err="1"/>
              <a:t>countWrongfulProperties</a:t>
            </a:r>
            <a:r>
              <a:rPr lang="de-DE" sz="2800" dirty="0"/>
              <a:t>: Zählt wie oft das Limit überschritten wurde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 err="1"/>
              <a:t>If</a:t>
            </a:r>
            <a:r>
              <a:rPr lang="de-DE" sz="2800" dirty="0"/>
              <a:t>-Abfrage: sind genug Limits überschritten?</a:t>
            </a:r>
          </a:p>
        </p:txBody>
      </p:sp>
    </p:spTree>
    <p:extLst>
      <p:ext uri="{BB962C8B-B14F-4D97-AF65-F5344CB8AC3E}">
        <p14:creationId xmlns:p14="http://schemas.microsoft.com/office/powerpoint/2010/main" val="161594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BD2E8-226C-478A-9E6A-832ED2D2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9A0A6C-ACAA-4032-8484-D7F657494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Berechnung der Kohäsion </a:t>
            </a:r>
          </a:p>
        </p:txBody>
      </p:sp>
    </p:spTree>
    <p:extLst>
      <p:ext uri="{BB962C8B-B14F-4D97-AF65-F5344CB8AC3E}">
        <p14:creationId xmlns:p14="http://schemas.microsoft.com/office/powerpoint/2010/main" val="263752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2D226-A6C6-2205-0BE8-40969812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Praktische Anwendung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EDF6E7-CE58-9316-C7D9-B0230DD2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ea typeface="+mn-lt"/>
                <a:cs typeface="+mn-lt"/>
              </a:rPr>
              <a:t>Fehleranfälligkeit reduzieren </a:t>
            </a:r>
          </a:p>
          <a:p>
            <a:r>
              <a:rPr lang="de-DE" dirty="0">
                <a:ea typeface="+mn-lt"/>
                <a:cs typeface="+mn-lt"/>
              </a:rPr>
              <a:t>Lesbarkeit und Wartbarkeit erhöhen</a:t>
            </a:r>
          </a:p>
          <a:p>
            <a:r>
              <a:rPr lang="de-DE" dirty="0">
                <a:cs typeface="Calibri"/>
              </a:rPr>
              <a:t>Qualitätsanalyse, usw...</a:t>
            </a:r>
          </a:p>
          <a:p>
            <a:endParaRPr lang="de-DE" dirty="0">
              <a:cs typeface="Calibri"/>
            </a:endParaRPr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4FD8994D-5B45-915D-EB8E-DD3F54C85445}"/>
              </a:ext>
            </a:extLst>
          </p:cNvPr>
          <p:cNvSpPr/>
          <p:nvPr/>
        </p:nvSpPr>
        <p:spPr>
          <a:xfrm>
            <a:off x="539843" y="3827222"/>
            <a:ext cx="1036320" cy="36576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4352401-B8B5-EC4B-F16B-9B67CE496113}"/>
              </a:ext>
            </a:extLst>
          </p:cNvPr>
          <p:cNvSpPr txBox="1"/>
          <p:nvPr/>
        </p:nvSpPr>
        <p:spPr>
          <a:xfrm>
            <a:off x="1650258" y="3745199"/>
            <a:ext cx="971270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800" dirty="0">
                <a:cs typeface="Calibri"/>
              </a:rPr>
              <a:t>Effiziente Codeüberprüfung, </a:t>
            </a:r>
            <a:r>
              <a:rPr lang="de-DE" sz="2800" dirty="0">
                <a:ea typeface="+mn-lt"/>
                <a:cs typeface="+mn-lt"/>
              </a:rPr>
              <a:t>Design- und Architekturverbesserung</a:t>
            </a:r>
          </a:p>
        </p:txBody>
      </p:sp>
      <p:pic>
        <p:nvPicPr>
          <p:cNvPr id="9" name="Grafik 8" descr="Ein Bild, das Zeichnung, Clipart, Cartoon, Darstellung enthält.&#10;&#10;Beschreibung automatisch generiert.">
            <a:extLst>
              <a:ext uri="{FF2B5EF4-FFF2-40B4-BE49-F238E27FC236}">
                <a16:creationId xmlns:a16="http://schemas.microsoft.com/office/drawing/2014/main" id="{93635AD2-60F2-05EE-CAC5-BE1EA4DB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4549140"/>
            <a:ext cx="3200400" cy="183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8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917C0-98C5-4A17-96FF-90326AAE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Benutzerfreundlichkeit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A81BB6-3218-417B-A7D9-3BCB0C7F0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Programm leitet den Nutzer</a:t>
            </a:r>
          </a:p>
          <a:p>
            <a:r>
              <a:rPr lang="de-DE" dirty="0"/>
              <a:t>Einzelne Abfragen um Limits zu setzen</a:t>
            </a:r>
          </a:p>
          <a:p>
            <a:r>
              <a:rPr lang="de-DE" dirty="0"/>
              <a:t>Fehlerabfragen</a:t>
            </a:r>
          </a:p>
        </p:txBody>
      </p:sp>
    </p:spTree>
    <p:extLst>
      <p:ext uri="{BB962C8B-B14F-4D97-AF65-F5344CB8AC3E}">
        <p14:creationId xmlns:p14="http://schemas.microsoft.com/office/powerpoint/2010/main" val="198579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Breitbild</PresentationFormat>
  <Paragraphs>34</Paragraphs>
  <Slides>10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Office</vt:lpstr>
      <vt:lpstr>Statische Syntaxanalyse</vt:lpstr>
      <vt:lpstr>Vorüberlegungen</vt:lpstr>
      <vt:lpstr>Eigenschaften von Gottklassen</vt:lpstr>
      <vt:lpstr>Die Programmierung</vt:lpstr>
      <vt:lpstr>LCOM2</vt:lpstr>
      <vt:lpstr>Kopplung</vt:lpstr>
      <vt:lpstr>Finale Berechnung</vt:lpstr>
      <vt:lpstr>Probleme</vt:lpstr>
      <vt:lpstr>Praktische Anwendung</vt:lpstr>
      <vt:lpstr>Benutzerfreundlichkeit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Statische Syntaxanalyse</dc:title>
  <dc:creator>Daniel Brenner</dc:creator>
  <cp:lastModifiedBy>Roman Pauli</cp:lastModifiedBy>
  <cp:revision>56</cp:revision>
  <dcterms:created xsi:type="dcterms:W3CDTF">2024-10-21T14:31:38Z</dcterms:created>
  <dcterms:modified xsi:type="dcterms:W3CDTF">2024-10-22T14:12:52Z</dcterms:modified>
</cp:coreProperties>
</file>